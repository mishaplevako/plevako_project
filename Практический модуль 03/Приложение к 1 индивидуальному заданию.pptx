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40"/>
  </p:notesMasterIdLst>
  <p:handoutMasterIdLst>
    <p:handoutMasterId r:id="rId41"/>
  </p:handoutMasterIdLst>
  <p:sldIdLst>
    <p:sldId id="692" r:id="rId2"/>
    <p:sldId id="704" r:id="rId3"/>
    <p:sldId id="694" r:id="rId4"/>
    <p:sldId id="695" r:id="rId5"/>
    <p:sldId id="651" r:id="rId6"/>
    <p:sldId id="698" r:id="rId7"/>
    <p:sldId id="700" r:id="rId8"/>
    <p:sldId id="699" r:id="rId9"/>
    <p:sldId id="683" r:id="rId10"/>
    <p:sldId id="663" r:id="rId11"/>
    <p:sldId id="664" r:id="rId12"/>
    <p:sldId id="656" r:id="rId13"/>
    <p:sldId id="661" r:id="rId14"/>
    <p:sldId id="657" r:id="rId15"/>
    <p:sldId id="658" r:id="rId16"/>
    <p:sldId id="659" r:id="rId17"/>
    <p:sldId id="666" r:id="rId18"/>
    <p:sldId id="676" r:id="rId19"/>
    <p:sldId id="677" r:id="rId20"/>
    <p:sldId id="678" r:id="rId21"/>
    <p:sldId id="701" r:id="rId22"/>
    <p:sldId id="702" r:id="rId23"/>
    <p:sldId id="703" r:id="rId24"/>
    <p:sldId id="705" r:id="rId25"/>
    <p:sldId id="706" r:id="rId26"/>
    <p:sldId id="707" r:id="rId27"/>
    <p:sldId id="708" r:id="rId28"/>
    <p:sldId id="710" r:id="rId29"/>
    <p:sldId id="711" r:id="rId30"/>
    <p:sldId id="712" r:id="rId31"/>
    <p:sldId id="713" r:id="rId32"/>
    <p:sldId id="687" r:id="rId33"/>
    <p:sldId id="686" r:id="rId34"/>
    <p:sldId id="689" r:id="rId35"/>
    <p:sldId id="668" r:id="rId36"/>
    <p:sldId id="709" r:id="rId37"/>
    <p:sldId id="690" r:id="rId38"/>
    <p:sldId id="691" r:id="rId39"/>
  </p:sldIdLst>
  <p:sldSz cx="10693400" cy="7561263"/>
  <p:notesSz cx="6669088" cy="9928225"/>
  <p:defaultTextStyle>
    <a:defPPr>
      <a:defRPr lang="ru-RU"/>
    </a:defPPr>
    <a:lvl1pPr marL="0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1528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43056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64584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086112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07640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29168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50696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172224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6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2531">
          <p15:clr>
            <a:srgbClr val="A4A3A4"/>
          </p15:clr>
        </p15:guide>
        <p15:guide id="4" pos="33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атя" initials="К" lastIdx="1" clrIdx="0">
    <p:extLst>
      <p:ext uri="{19B8F6BF-5375-455C-9EA6-DF929625EA0E}">
        <p15:presenceInfo xmlns:p15="http://schemas.microsoft.com/office/powerpoint/2012/main" userId="Катя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0000"/>
    <a:srgbClr val="EB0000"/>
    <a:srgbClr val="EB1E00"/>
    <a:srgbClr val="E51F26"/>
    <a:srgbClr val="EB1E28"/>
    <a:srgbClr val="C81F36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408" autoAdjust="0"/>
  </p:normalViewPr>
  <p:slideViewPr>
    <p:cSldViewPr showGuides="1">
      <p:cViewPr varScale="1">
        <p:scale>
          <a:sx n="69" d="100"/>
          <a:sy n="69" d="100"/>
        </p:scale>
        <p:origin x="60" y="900"/>
      </p:cViewPr>
      <p:guideLst>
        <p:guide orient="horz" pos="2296"/>
        <p:guide pos="2880"/>
        <p:guide orient="horz" pos="2531"/>
        <p:guide pos="33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45" d="100"/>
          <a:sy n="45" d="100"/>
        </p:scale>
        <p:origin x="278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671583C3-CA27-4496-BECA-C771D03A36A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25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7987283-449F-49A3-9FA6-20B92A61CE8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778250" y="0"/>
            <a:ext cx="288925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B3481F-6E72-4171-A9C8-98D56C39F96E}" type="datetimeFigureOut">
              <a:rPr lang="ru-RU" smtClean="0"/>
              <a:t>25.06.2023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EB2E802-5847-4DA6-BAD8-A92EA4C57E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88925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7830C92-6658-426B-8F97-72EB78E0A89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778250" y="9429750"/>
            <a:ext cx="288925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1C4CA1-B95C-48CD-AB14-2CAA4305D9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63388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4E9510-8D81-4F7D-A3DD-ECD88FF9FF52}" type="datetimeFigureOut">
              <a:rPr lang="ru-RU" smtClean="0"/>
              <a:pPr/>
              <a:t>25.06.2023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66788" y="1241425"/>
            <a:ext cx="47355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66909" y="4777958"/>
            <a:ext cx="533527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889938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777607" y="9430091"/>
            <a:ext cx="2889938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CA9037-5C04-413C-AFF2-1B3777C3E5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5290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521528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1043056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564584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2086112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607640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129168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650696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172224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52F706F-AFAA-4FA6-90FD-A6042EEAC4E3}"/>
              </a:ext>
            </a:extLst>
          </p:cNvPr>
          <p:cNvSpPr/>
          <p:nvPr userDrawn="1"/>
        </p:nvSpPr>
        <p:spPr>
          <a:xfrm>
            <a:off x="0" y="1954612"/>
            <a:ext cx="10693400" cy="4058267"/>
          </a:xfrm>
          <a:prstGeom prst="rect">
            <a:avLst/>
          </a:prstGeom>
          <a:solidFill>
            <a:srgbClr val="2B314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358D1E9-CE0B-40E2-B7B4-0FA4354CB526}"/>
              </a:ext>
            </a:extLst>
          </p:cNvPr>
          <p:cNvSpPr/>
          <p:nvPr userDrawn="1"/>
        </p:nvSpPr>
        <p:spPr>
          <a:xfrm>
            <a:off x="0" y="3755251"/>
            <a:ext cx="151490" cy="133288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349F62CD-3B5C-4018-AC46-2285EBFB89E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767" y="679218"/>
            <a:ext cx="3127375" cy="573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D512A90-7C52-4CB6-A385-FCF56ED6BFC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64950" y="6588943"/>
            <a:ext cx="1628450" cy="900750"/>
          </a:xfrm>
          <a:prstGeom prst="rect">
            <a:avLst/>
          </a:prstGeom>
        </p:spPr>
      </p:pic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811B1396-9D3B-4AEC-A3F5-32D25265EA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1784" y="3348583"/>
            <a:ext cx="9679452" cy="1915285"/>
          </a:xfrm>
        </p:spPr>
        <p:txBody>
          <a:bodyPr anchor="b">
            <a:normAutofit/>
          </a:bodyPr>
          <a:lstStyle>
            <a:lvl1pPr algn="ctr">
              <a:defRPr lang="ru-RU" sz="5500" b="1" kern="1200" dirty="0">
                <a:solidFill>
                  <a:schemeClr val="bg1"/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</a:lstStyle>
          <a:p>
            <a:pPr marL="0" lvl="0" algn="l" defTabSz="1043056" rtl="0" eaLnBrk="1" latinLnBrk="0" hangingPunct="1">
              <a:defRPr/>
            </a:pPr>
            <a:r>
              <a:rPr lang="ru-RU" dirty="0"/>
              <a:t>ОБРАЗЕЦ ЗАГОЛОВКА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EEDFA97E-57D3-4908-B503-1A4CD5FEDBA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74666" y="5386216"/>
            <a:ext cx="9768578" cy="453716"/>
          </a:xfrm>
        </p:spPr>
        <p:txBody>
          <a:bodyPr anchor="b">
            <a:normAutofit/>
          </a:bodyPr>
          <a:lstStyle>
            <a:lvl1pPr marL="87313" indent="0">
              <a:buNone/>
              <a:defRPr sz="23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600521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D:\_DEN\_ПРОЕКТЫ\_МФПА\Университет СИНЕРГИЯ\презентации\Рисунок1.jpg">
            <a:extLst>
              <a:ext uri="{FF2B5EF4-FFF2-40B4-BE49-F238E27FC236}">
                <a16:creationId xmlns:a16="http://schemas.microsoft.com/office/drawing/2014/main" id="{04EA8244-8613-47EF-ADFF-CECBFAAFD32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725898" cy="756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>
            <a:extLst>
              <a:ext uri="{FF2B5EF4-FFF2-40B4-BE49-F238E27FC236}">
                <a16:creationId xmlns:a16="http://schemas.microsoft.com/office/drawing/2014/main" id="{2D85A3D9-8E6C-42BC-A646-80F2D6AECC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977" y="1001906"/>
            <a:ext cx="2610490" cy="4616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92507453-DF3E-4843-9C37-520D26E5A13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6766" y="2196455"/>
            <a:ext cx="9599868" cy="3807156"/>
          </a:xfrm>
        </p:spPr>
        <p:txBody>
          <a:bodyPr anchor="ctr">
            <a:normAutofit/>
          </a:bodyPr>
          <a:lstStyle>
            <a:lvl1pPr marL="0" algn="l" defTabSz="104305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5000" b="1" kern="1200" dirty="0">
                <a:solidFill>
                  <a:schemeClr val="bg1"/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041802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3C1DD5A-7DBA-4220-B8D8-20048D0ABCE3}"/>
              </a:ext>
            </a:extLst>
          </p:cNvPr>
          <p:cNvSpPr/>
          <p:nvPr userDrawn="1"/>
        </p:nvSpPr>
        <p:spPr>
          <a:xfrm>
            <a:off x="0" y="1795828"/>
            <a:ext cx="10693400" cy="47931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C2420F8-15A4-4618-82BB-55758199BB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64950" y="6588943"/>
            <a:ext cx="1628450" cy="900750"/>
          </a:xfrm>
          <a:prstGeom prst="rect">
            <a:avLst/>
          </a:prstGeom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FCBA8602-5369-476D-B67C-4D459E2AD0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673" y="561291"/>
            <a:ext cx="9687193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73CB2135-A489-4E6B-8FED-92D74838E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963" y="2919243"/>
            <a:ext cx="9824904" cy="3488816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EA6920BC-95BA-4EE0-B6B9-ABDFC2E139F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94963" y="2124447"/>
            <a:ext cx="9824904" cy="421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36323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C2420F8-15A4-4618-82BB-55758199BB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64950" y="6588943"/>
            <a:ext cx="1628450" cy="900750"/>
          </a:xfrm>
          <a:prstGeom prst="rect">
            <a:avLst/>
          </a:prstGeom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FCBA8602-5369-476D-B67C-4D459E2AD0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673" y="561291"/>
            <a:ext cx="9687193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73CB2135-A489-4E6B-8FED-92D74838E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963" y="2700511"/>
            <a:ext cx="9824904" cy="3707548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EA6920BC-95BA-4EE0-B6B9-ABDFC2E139F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94963" y="2124447"/>
            <a:ext cx="9824904" cy="421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701116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C2420F8-15A4-4618-82BB-55758199BB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64950" y="6588943"/>
            <a:ext cx="1628450" cy="900750"/>
          </a:xfrm>
          <a:prstGeom prst="rect">
            <a:avLst/>
          </a:prstGeom>
        </p:spPr>
      </p:pic>
      <p:sp>
        <p:nvSpPr>
          <p:cNvPr id="38" name="Заголовок 1">
            <a:extLst>
              <a:ext uri="{FF2B5EF4-FFF2-40B4-BE49-F238E27FC236}">
                <a16:creationId xmlns:a16="http://schemas.microsoft.com/office/drawing/2014/main" id="{92BB8558-F0D2-4EE4-AD81-BEA8F86281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673" y="561291"/>
            <a:ext cx="9687193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5C6B6E1A-7427-4160-A1D6-036AF3FE4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962" y="2141571"/>
            <a:ext cx="9824905" cy="4424697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528352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C2420F8-15A4-4618-82BB-55758199BB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64950" y="6588943"/>
            <a:ext cx="1628450" cy="900750"/>
          </a:xfrm>
          <a:prstGeom prst="rect">
            <a:avLst/>
          </a:prstGeom>
        </p:spPr>
      </p:pic>
      <p:sp>
        <p:nvSpPr>
          <p:cNvPr id="15" name="Объект 2">
            <a:extLst>
              <a:ext uri="{FF2B5EF4-FFF2-40B4-BE49-F238E27FC236}">
                <a16:creationId xmlns:a16="http://schemas.microsoft.com/office/drawing/2014/main" id="{73CB2135-A489-4E6B-8FED-92D74838E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212" y="3559861"/>
            <a:ext cx="3154337" cy="3006407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EA6920BC-95BA-4EE0-B6B9-ABDFC2E139F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24212" y="2141571"/>
            <a:ext cx="3154337" cy="1276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4" name="Объект 2">
            <a:extLst>
              <a:ext uri="{FF2B5EF4-FFF2-40B4-BE49-F238E27FC236}">
                <a16:creationId xmlns:a16="http://schemas.microsoft.com/office/drawing/2014/main" id="{A4523AE8-D259-411C-A6A2-3CD2D16943E6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3741209" y="3559861"/>
            <a:ext cx="3154337" cy="3006407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35" name="Текст 2">
            <a:extLst>
              <a:ext uri="{FF2B5EF4-FFF2-40B4-BE49-F238E27FC236}">
                <a16:creationId xmlns:a16="http://schemas.microsoft.com/office/drawing/2014/main" id="{2C6B67E9-E51A-4189-9E6F-B8FBB553E1FC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741209" y="2141571"/>
            <a:ext cx="3154337" cy="1276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6" name="Объект 2">
            <a:extLst>
              <a:ext uri="{FF2B5EF4-FFF2-40B4-BE49-F238E27FC236}">
                <a16:creationId xmlns:a16="http://schemas.microsoft.com/office/drawing/2014/main" id="{D9E4D091-F7FD-4BCB-B863-BE189268567B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7158207" y="3559861"/>
            <a:ext cx="3154337" cy="3006407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37" name="Текст 2">
            <a:extLst>
              <a:ext uri="{FF2B5EF4-FFF2-40B4-BE49-F238E27FC236}">
                <a16:creationId xmlns:a16="http://schemas.microsoft.com/office/drawing/2014/main" id="{27AE658B-019B-4257-BC1E-5402C16CD9CF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7158207" y="2141571"/>
            <a:ext cx="3154337" cy="1276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8" name="Заголовок 1">
            <a:extLst>
              <a:ext uri="{FF2B5EF4-FFF2-40B4-BE49-F238E27FC236}">
                <a16:creationId xmlns:a16="http://schemas.microsoft.com/office/drawing/2014/main" id="{92BB8558-F0D2-4EE4-AD81-BEA8F86281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674" y="561291"/>
            <a:ext cx="9779870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345259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EB9B11F2-6547-4B66-9341-F3EB5FC81BDB}"/>
              </a:ext>
            </a:extLst>
          </p:cNvPr>
          <p:cNvSpPr/>
          <p:nvPr userDrawn="1"/>
        </p:nvSpPr>
        <p:spPr>
          <a:xfrm>
            <a:off x="7759261" y="2470407"/>
            <a:ext cx="2359400" cy="40903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C2420F8-15A4-4618-82BB-55758199BB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64950" y="6588943"/>
            <a:ext cx="1628450" cy="900750"/>
          </a:xfrm>
          <a:prstGeom prst="rect">
            <a:avLst/>
          </a:prstGeom>
        </p:spPr>
      </p:pic>
      <p:sp>
        <p:nvSpPr>
          <p:cNvPr id="18" name="object 3">
            <a:extLst>
              <a:ext uri="{FF2B5EF4-FFF2-40B4-BE49-F238E27FC236}">
                <a16:creationId xmlns:a16="http://schemas.microsoft.com/office/drawing/2014/main" id="{4C967A7A-8161-4185-84CA-97E80FC9B322}"/>
              </a:ext>
            </a:extLst>
          </p:cNvPr>
          <p:cNvSpPr/>
          <p:nvPr userDrawn="1"/>
        </p:nvSpPr>
        <p:spPr>
          <a:xfrm>
            <a:off x="7222" y="252239"/>
            <a:ext cx="125720" cy="1815708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Заголовок 1">
            <a:extLst>
              <a:ext uri="{FF2B5EF4-FFF2-40B4-BE49-F238E27FC236}">
                <a16:creationId xmlns:a16="http://schemas.microsoft.com/office/drawing/2014/main" id="{BDCE2DE8-E62B-4A34-8FC0-6B605B6B6D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2355" y="1133896"/>
            <a:ext cx="9499375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  <p:sp>
        <p:nvSpPr>
          <p:cNvPr id="31" name="Текст 2">
            <a:extLst>
              <a:ext uri="{FF2B5EF4-FFF2-40B4-BE49-F238E27FC236}">
                <a16:creationId xmlns:a16="http://schemas.microsoft.com/office/drawing/2014/main" id="{2B0BFA9E-BDB0-415B-8B27-5B6AB1518DB8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562355" y="489910"/>
            <a:ext cx="9499375" cy="276999"/>
          </a:xfrm>
        </p:spPr>
        <p:txBody>
          <a:bodyPr vert="horz" wrap="square" lIns="0" tIns="0" rIns="0" bIns="0" rtlCol="0" anchor="ctr">
            <a:spAutoFit/>
          </a:bodyPr>
          <a:lstStyle>
            <a:lvl1pPr>
              <a:defRPr lang="ru-RU" sz="2000" b="1" dirty="0">
                <a:solidFill>
                  <a:srgbClr val="E60000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pPr marL="0" lvl="0" defTabSz="914400">
              <a:spcBef>
                <a:spcPct val="0"/>
              </a:spcBef>
              <a:buNone/>
            </a:pPr>
            <a:r>
              <a:rPr lang="ru-RU" dirty="0"/>
              <a:t>ОБРАЗЕЦ ТЕКСТА</a:t>
            </a:r>
          </a:p>
        </p:txBody>
      </p:sp>
      <p:sp>
        <p:nvSpPr>
          <p:cNvPr id="42" name="Объект 2">
            <a:extLst>
              <a:ext uri="{FF2B5EF4-FFF2-40B4-BE49-F238E27FC236}">
                <a16:creationId xmlns:a16="http://schemas.microsoft.com/office/drawing/2014/main" id="{DDA1D208-AC82-41CD-AC19-AA520B2C2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691" y="5058739"/>
            <a:ext cx="2304000" cy="150206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3" name="Объект 2">
            <a:extLst>
              <a:ext uri="{FF2B5EF4-FFF2-40B4-BE49-F238E27FC236}">
                <a16:creationId xmlns:a16="http://schemas.microsoft.com/office/drawing/2014/main" id="{2CB3BD24-831A-4664-875C-E9C7FB7F8C36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3017334" y="5058739"/>
            <a:ext cx="2304000" cy="150206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4" name="Объект 2">
            <a:extLst>
              <a:ext uri="{FF2B5EF4-FFF2-40B4-BE49-F238E27FC236}">
                <a16:creationId xmlns:a16="http://schemas.microsoft.com/office/drawing/2014/main" id="{F8D3A8DA-DE38-47DD-9DD4-6DEB7240F645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5388977" y="5058739"/>
            <a:ext cx="2304000" cy="150206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EE8C385B-C208-4106-8613-8BC5223A3F5C}"/>
              </a:ext>
            </a:extLst>
          </p:cNvPr>
          <p:cNvSpPr/>
          <p:nvPr userDrawn="1"/>
        </p:nvSpPr>
        <p:spPr>
          <a:xfrm>
            <a:off x="648087" y="4846672"/>
            <a:ext cx="7043531" cy="5166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sp>
        <p:nvSpPr>
          <p:cNvPr id="52" name="Текст 2">
            <a:extLst>
              <a:ext uri="{FF2B5EF4-FFF2-40B4-BE49-F238E27FC236}">
                <a16:creationId xmlns:a16="http://schemas.microsoft.com/office/drawing/2014/main" id="{7CEAFFC1-C332-47C7-9CFE-8FE0B3FD0457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757731" y="2484487"/>
            <a:ext cx="2304000" cy="292598"/>
          </a:xfrm>
        </p:spPr>
        <p:txBody>
          <a:bodyPr anchor="b">
            <a:normAutofit/>
          </a:bodyPr>
          <a:lstStyle>
            <a:lvl1pPr marL="0" indent="0" algn="l">
              <a:buNone/>
              <a:defRPr sz="14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4" name="Объект 2">
            <a:extLst>
              <a:ext uri="{FF2B5EF4-FFF2-40B4-BE49-F238E27FC236}">
                <a16:creationId xmlns:a16="http://schemas.microsoft.com/office/drawing/2014/main" id="{BDB58731-0025-45AA-B7E6-AE93EE2F2764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7759260" y="2945191"/>
            <a:ext cx="2311011" cy="3462867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8" name="Объект 2">
            <a:extLst>
              <a:ext uri="{FF2B5EF4-FFF2-40B4-BE49-F238E27FC236}">
                <a16:creationId xmlns:a16="http://schemas.microsoft.com/office/drawing/2014/main" id="{E9331FB5-268A-4AC3-A50C-029CFF37D9C2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665571" y="2470407"/>
            <a:ext cx="2304000" cy="237626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9" name="Объект 2">
            <a:extLst>
              <a:ext uri="{FF2B5EF4-FFF2-40B4-BE49-F238E27FC236}">
                <a16:creationId xmlns:a16="http://schemas.microsoft.com/office/drawing/2014/main" id="{073B8669-4C3C-4E00-85DA-6D255EE3B472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3037214" y="2470407"/>
            <a:ext cx="2304000" cy="237626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0" name="Объект 2">
            <a:extLst>
              <a:ext uri="{FF2B5EF4-FFF2-40B4-BE49-F238E27FC236}">
                <a16:creationId xmlns:a16="http://schemas.microsoft.com/office/drawing/2014/main" id="{6D28D3A1-3506-42DA-8E0C-5D900B154BFB}"/>
              </a:ext>
            </a:extLst>
          </p:cNvPr>
          <p:cNvSpPr>
            <a:spLocks noGrp="1"/>
          </p:cNvSpPr>
          <p:nvPr>
            <p:ph idx="27"/>
          </p:nvPr>
        </p:nvSpPr>
        <p:spPr>
          <a:xfrm>
            <a:off x="5408857" y="2470407"/>
            <a:ext cx="2304000" cy="237626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621439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36675" y="1237457"/>
            <a:ext cx="8020050" cy="2632440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36675" y="3971414"/>
            <a:ext cx="8020050" cy="1825554"/>
          </a:xfrm>
        </p:spPr>
        <p:txBody>
          <a:bodyPr/>
          <a:lstStyle>
            <a:lvl1pPr marL="0" indent="0" algn="ctr">
              <a:buNone/>
              <a:defRPr sz="2100"/>
            </a:lvl1pPr>
            <a:lvl2pPr marL="391146" indent="0" algn="ctr">
              <a:buNone/>
              <a:defRPr sz="1700"/>
            </a:lvl2pPr>
            <a:lvl3pPr marL="782292" indent="0" algn="ctr">
              <a:buNone/>
              <a:defRPr sz="1500"/>
            </a:lvl3pPr>
            <a:lvl4pPr marL="1173438" indent="0" algn="ctr">
              <a:buNone/>
              <a:defRPr sz="1400"/>
            </a:lvl4pPr>
            <a:lvl5pPr marL="1564584" indent="0" algn="ctr">
              <a:buNone/>
              <a:defRPr sz="1400"/>
            </a:lvl5pPr>
            <a:lvl6pPr marL="1955730" indent="0" algn="ctr">
              <a:buNone/>
              <a:defRPr sz="1400"/>
            </a:lvl6pPr>
            <a:lvl7pPr marL="2346876" indent="0" algn="ctr">
              <a:buNone/>
              <a:defRPr sz="1400"/>
            </a:lvl7pPr>
            <a:lvl8pPr marL="2738022" indent="0" algn="ctr">
              <a:buNone/>
              <a:defRPr sz="1400"/>
            </a:lvl8pPr>
            <a:lvl9pPr marL="3129168" indent="0" algn="ctr">
              <a:buNone/>
              <a:defRPr sz="14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25.06.2023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4812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25.06.2023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2051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5265" y="280935"/>
            <a:ext cx="1512396" cy="2771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57451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9602" y="1885067"/>
            <a:ext cx="9223058" cy="3145275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9602" y="5060097"/>
            <a:ext cx="9223058" cy="1654026"/>
          </a:xfrm>
        </p:spPr>
        <p:txBody>
          <a:bodyPr/>
          <a:lstStyle>
            <a:lvl1pPr marL="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1pPr>
            <a:lvl2pPr marL="391146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822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3pPr>
            <a:lvl4pPr marL="117343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56458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195573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34687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273802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12916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25.06.2023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7061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735171" y="2012836"/>
            <a:ext cx="4544695" cy="479755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413534" y="2012836"/>
            <a:ext cx="4544695" cy="479755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25.06.2023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38500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6564" y="402569"/>
            <a:ext cx="9223058" cy="146149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36565" y="1853560"/>
            <a:ext cx="4523809" cy="908401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736565" y="2761961"/>
            <a:ext cx="4523809" cy="406242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413534" y="1853560"/>
            <a:ext cx="4546088" cy="908401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5413534" y="2761961"/>
            <a:ext cx="4546088" cy="406242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25.06.2023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73644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25.06.2023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52048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6564" y="504084"/>
            <a:ext cx="3448900" cy="1764295"/>
          </a:xfrm>
        </p:spPr>
        <p:txBody>
          <a:bodyPr anchor="b"/>
          <a:lstStyle>
            <a:lvl1pPr>
              <a:defRPr sz="27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46088" y="1088683"/>
            <a:ext cx="5413534" cy="5373398"/>
          </a:xfrm>
        </p:spPr>
        <p:txBody>
          <a:bodyPr/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736564" y="2268379"/>
            <a:ext cx="3448900" cy="4202453"/>
          </a:xfrm>
        </p:spPr>
        <p:txBody>
          <a:bodyPr/>
          <a:lstStyle>
            <a:lvl1pPr marL="0" indent="0">
              <a:buNone/>
              <a:defRPr sz="1400"/>
            </a:lvl1pPr>
            <a:lvl2pPr marL="391146" indent="0">
              <a:buNone/>
              <a:defRPr sz="1200"/>
            </a:lvl2pPr>
            <a:lvl3pPr marL="782292" indent="0">
              <a:buNone/>
              <a:defRPr sz="1000"/>
            </a:lvl3pPr>
            <a:lvl4pPr marL="1173438" indent="0">
              <a:buNone/>
              <a:defRPr sz="900"/>
            </a:lvl4pPr>
            <a:lvl5pPr marL="1564584" indent="0">
              <a:buNone/>
              <a:defRPr sz="900"/>
            </a:lvl5pPr>
            <a:lvl6pPr marL="1955730" indent="0">
              <a:buNone/>
              <a:defRPr sz="900"/>
            </a:lvl6pPr>
            <a:lvl7pPr marL="2346876" indent="0">
              <a:buNone/>
              <a:defRPr sz="900"/>
            </a:lvl7pPr>
            <a:lvl8pPr marL="2738022" indent="0">
              <a:buNone/>
              <a:defRPr sz="900"/>
            </a:lvl8pPr>
            <a:lvl9pPr marL="3129168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25.06.2023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14102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6564" y="504084"/>
            <a:ext cx="3448900" cy="1764295"/>
          </a:xfrm>
        </p:spPr>
        <p:txBody>
          <a:bodyPr anchor="b"/>
          <a:lstStyle>
            <a:lvl1pPr>
              <a:defRPr sz="27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546088" y="1088683"/>
            <a:ext cx="5413534" cy="5373398"/>
          </a:xfrm>
        </p:spPr>
        <p:txBody>
          <a:bodyPr/>
          <a:lstStyle>
            <a:lvl1pPr marL="0" indent="0">
              <a:buNone/>
              <a:defRPr sz="2700"/>
            </a:lvl1pPr>
            <a:lvl2pPr marL="391146" indent="0">
              <a:buNone/>
              <a:defRPr sz="2400"/>
            </a:lvl2pPr>
            <a:lvl3pPr marL="782292" indent="0">
              <a:buNone/>
              <a:defRPr sz="2100"/>
            </a:lvl3pPr>
            <a:lvl4pPr marL="1173438" indent="0">
              <a:buNone/>
              <a:defRPr sz="1700"/>
            </a:lvl4pPr>
            <a:lvl5pPr marL="1564584" indent="0">
              <a:buNone/>
              <a:defRPr sz="1700"/>
            </a:lvl5pPr>
            <a:lvl6pPr marL="1955730" indent="0">
              <a:buNone/>
              <a:defRPr sz="1700"/>
            </a:lvl6pPr>
            <a:lvl7pPr marL="2346876" indent="0">
              <a:buNone/>
              <a:defRPr sz="1700"/>
            </a:lvl7pPr>
            <a:lvl8pPr marL="2738022" indent="0">
              <a:buNone/>
              <a:defRPr sz="1700"/>
            </a:lvl8pPr>
            <a:lvl9pPr marL="3129168" indent="0">
              <a:buNone/>
              <a:defRPr sz="17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736564" y="2268379"/>
            <a:ext cx="3448900" cy="4202453"/>
          </a:xfrm>
        </p:spPr>
        <p:txBody>
          <a:bodyPr/>
          <a:lstStyle>
            <a:lvl1pPr marL="0" indent="0">
              <a:buNone/>
              <a:defRPr sz="1400"/>
            </a:lvl1pPr>
            <a:lvl2pPr marL="391146" indent="0">
              <a:buNone/>
              <a:defRPr sz="1200"/>
            </a:lvl2pPr>
            <a:lvl3pPr marL="782292" indent="0">
              <a:buNone/>
              <a:defRPr sz="1000"/>
            </a:lvl3pPr>
            <a:lvl4pPr marL="1173438" indent="0">
              <a:buNone/>
              <a:defRPr sz="900"/>
            </a:lvl4pPr>
            <a:lvl5pPr marL="1564584" indent="0">
              <a:buNone/>
              <a:defRPr sz="900"/>
            </a:lvl5pPr>
            <a:lvl6pPr marL="1955730" indent="0">
              <a:buNone/>
              <a:defRPr sz="900"/>
            </a:lvl6pPr>
            <a:lvl7pPr marL="2346876" indent="0">
              <a:buNone/>
              <a:defRPr sz="900"/>
            </a:lvl7pPr>
            <a:lvl8pPr marL="2738022" indent="0">
              <a:buNone/>
              <a:defRPr sz="900"/>
            </a:lvl8pPr>
            <a:lvl9pPr marL="3129168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25.06.2023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61765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25.06.2023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45505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7652465" y="402567"/>
            <a:ext cx="2305764" cy="64078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735172" y="402567"/>
            <a:ext cx="6783626" cy="640782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25.06.2023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9312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5171" y="402569"/>
            <a:ext cx="9223058" cy="1461495"/>
          </a:xfrm>
          <a:prstGeom prst="rect">
            <a:avLst/>
          </a:prstGeom>
        </p:spPr>
        <p:txBody>
          <a:bodyPr vert="horz" lIns="104306" tIns="52153" rIns="104306" bIns="52153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35171" y="2012836"/>
            <a:ext cx="9223058" cy="4797552"/>
          </a:xfrm>
          <a:prstGeom prst="rect">
            <a:avLst/>
          </a:prstGeom>
        </p:spPr>
        <p:txBody>
          <a:bodyPr vert="horz" lIns="104306" tIns="52153" rIns="104306" bIns="52153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735171" y="7008172"/>
            <a:ext cx="2406015" cy="40256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9B0CA2-EE7C-4F21-BC99-1B7BC45BB5BA}" type="datetimeFigureOut">
              <a:rPr lang="ru-RU" smtClean="0"/>
              <a:pPr/>
              <a:t>25.06.2023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542189" y="7008172"/>
            <a:ext cx="3609023" cy="40256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7552214" y="7008172"/>
            <a:ext cx="2406015" cy="40256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8932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5" r:id="rId2"/>
    <p:sldLayoutId id="2147483719" r:id="rId3"/>
    <p:sldLayoutId id="2147483739" r:id="rId4"/>
    <p:sldLayoutId id="2147483736" r:id="rId5"/>
    <p:sldLayoutId id="2147483738" r:id="rId6"/>
    <p:sldLayoutId id="2147483737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20" r:id="rId14"/>
    <p:sldLayoutId id="2147483721" r:id="rId15"/>
    <p:sldLayoutId id="2147483722" r:id="rId16"/>
    <p:sldLayoutId id="2147483723" r:id="rId17"/>
  </p:sldLayoutIdLst>
  <p:txStyles>
    <p:titleStyle>
      <a:lvl1pPr algn="l" defTabSz="782292" rtl="0" eaLnBrk="1" latinLnBrk="0" hangingPunct="1">
        <a:lnSpc>
          <a:spcPct val="90000"/>
        </a:lnSpc>
        <a:spcBef>
          <a:spcPct val="0"/>
        </a:spcBef>
        <a:buNone/>
        <a:defRPr sz="3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5573" indent="-195573" algn="l" defTabSz="782292" rtl="0" eaLnBrk="1" latinLnBrk="0" hangingPunct="1">
        <a:lnSpc>
          <a:spcPct val="90000"/>
        </a:lnSpc>
        <a:spcBef>
          <a:spcPts val="856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86719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77865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011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60157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151303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542449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933595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324741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91146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82292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73438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64584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55730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346876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38022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129168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biblioclub.ru/" TargetMode="Externa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biblioclub.ru/index.php?page=book&amp;id=612465" TargetMode="External"/><Relationship Id="rId7" Type="http://schemas.openxmlformats.org/officeDocument/2006/relationships/hyperlink" Target="https://urait.ru/bcode/515206" TargetMode="External"/><Relationship Id="rId2" Type="http://schemas.openxmlformats.org/officeDocument/2006/relationships/hyperlink" Target="https://biblioclub.ru/index.php?page=book&amp;id=463339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urait.ru/bcode/519953" TargetMode="External"/><Relationship Id="rId5" Type="http://schemas.openxmlformats.org/officeDocument/2006/relationships/hyperlink" Target="https://urait.ru/bcode/514591" TargetMode="External"/><Relationship Id="rId4" Type="http://schemas.openxmlformats.org/officeDocument/2006/relationships/hyperlink" Target="https://biblioclub.ru/index.php?page=book&amp;id=59840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AEBF47-2662-48D1-B238-FBEE452D28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4285" y="4356695"/>
            <a:ext cx="9679452" cy="1915285"/>
          </a:xfrm>
        </p:spPr>
        <p:txBody>
          <a:bodyPr>
            <a:normAutofit fontScale="90000"/>
          </a:bodyPr>
          <a:lstStyle/>
          <a:p>
            <a:r>
              <a:rPr lang="ru-RU" sz="2100" dirty="0"/>
              <a:t>ОТЧЕТ </a:t>
            </a:r>
            <a:br>
              <a:rPr lang="ru-RU" sz="2100" dirty="0"/>
            </a:br>
            <a:r>
              <a:rPr lang="ru-RU" sz="2100" dirty="0"/>
              <a:t>о прохождении учебной практики</a:t>
            </a:r>
            <a:br>
              <a:rPr lang="ru-RU" sz="2100" dirty="0"/>
            </a:br>
            <a:r>
              <a:rPr lang="ru-RU" sz="2100" dirty="0"/>
              <a:t> </a:t>
            </a:r>
            <a:br>
              <a:rPr lang="ru-RU" sz="2100" dirty="0"/>
            </a:br>
            <a:r>
              <a:rPr lang="ru-RU" sz="2100" dirty="0"/>
              <a:t>по профессиональному модулю ПМ.03 Проектирование и разработка информационных систем</a:t>
            </a:r>
            <a:br>
              <a:rPr lang="en-US" sz="2100" dirty="0"/>
            </a:br>
            <a:br>
              <a:rPr lang="en-US" sz="2100" dirty="0"/>
            </a:br>
            <a:r>
              <a:rPr lang="ru-RU" sz="2100" dirty="0"/>
              <a:t>в период с «01» июня 2023 г. по «14» июня 2023 г. </a:t>
            </a:r>
            <a:br>
              <a:rPr lang="en-US" sz="2200" dirty="0"/>
            </a:br>
            <a:br>
              <a:rPr lang="ru-RU" sz="2200" dirty="0"/>
            </a:br>
            <a:r>
              <a:rPr lang="ru-RU" sz="2100" dirty="0"/>
              <a:t>Специальность 09.02.07 Информационные системы и программирование</a:t>
            </a:r>
            <a:br>
              <a:rPr lang="ru-RU" sz="2700" dirty="0"/>
            </a:br>
            <a:br>
              <a:rPr lang="ru-RU" sz="2100" dirty="0"/>
            </a:br>
            <a:endParaRPr lang="ru-RU" sz="2700" dirty="0"/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8EC7E33D-1387-4B56-A695-F4C72A50F4EE}"/>
              </a:ext>
            </a:extLst>
          </p:cNvPr>
          <p:cNvSpPr txBox="1">
            <a:spLocks/>
          </p:cNvSpPr>
          <p:nvPr/>
        </p:nvSpPr>
        <p:spPr bwMode="auto">
          <a:xfrm>
            <a:off x="426967" y="5980906"/>
            <a:ext cx="8712968" cy="1368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ru-RU" altLang="ru-RU" sz="1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ФИО обучающегося</a:t>
            </a:r>
            <a:r>
              <a:rPr kumimoji="0" lang="ru-RU" altLang="ru-RU" sz="2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: </a:t>
            </a:r>
            <a:r>
              <a:rPr lang="ru-RU" altLang="ru-RU" sz="2400" dirty="0">
                <a:solidFill>
                  <a:srgbClr val="FF0000"/>
                </a:solidFill>
                <a:latin typeface="Calibri"/>
              </a:rPr>
              <a:t>______</a:t>
            </a:r>
            <a:r>
              <a:rPr lang="ru-RU" altLang="ru-RU" sz="2400" u="sng" dirty="0">
                <a:solidFill>
                  <a:srgbClr val="FF0000"/>
                </a:solidFill>
                <a:latin typeface="Calibri"/>
              </a:rPr>
              <a:t>Плевако Михаил Павлович</a:t>
            </a:r>
            <a:r>
              <a:rPr lang="ru-RU" altLang="ru-RU" sz="2400" dirty="0">
                <a:solidFill>
                  <a:srgbClr val="FF0000"/>
                </a:solidFill>
                <a:latin typeface="Calibri"/>
              </a:rPr>
              <a:t>________</a:t>
            </a: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ru-RU" altLang="ru-RU" sz="2400" dirty="0">
                <a:solidFill>
                  <a:srgbClr val="FF0000"/>
                </a:solidFill>
                <a:latin typeface="Calibri"/>
              </a:rPr>
              <a:t>Группа: __________________ДКИП-3010_________________</a:t>
            </a:r>
          </a:p>
          <a:p>
            <a:pPr algn="l" defTabSz="914400" eaLnBrk="1" hangingPunct="1">
              <a:lnSpc>
                <a:spcPct val="80000"/>
              </a:lnSpc>
              <a:spcBef>
                <a:spcPct val="0"/>
              </a:spcBef>
              <a:defRPr/>
            </a:pPr>
            <a:r>
              <a:rPr kumimoji="0" lang="ru-RU" altLang="ru-RU" sz="2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ФИО Руководителя:  </a:t>
            </a:r>
            <a:r>
              <a:rPr lang="ru-RU" altLang="ru-RU" sz="2400" dirty="0">
                <a:solidFill>
                  <a:srgbClr val="FF0000"/>
                </a:solidFill>
              </a:rPr>
              <a:t>__</a:t>
            </a:r>
            <a:r>
              <a:rPr lang="ru-RU" altLang="ru-RU" sz="2400" u="sng" dirty="0">
                <a:solidFill>
                  <a:srgbClr val="FF0000"/>
                </a:solidFill>
              </a:rPr>
              <a:t>Пышнограева Анастасия Анатольевна </a:t>
            </a:r>
            <a:r>
              <a:rPr lang="ru-RU" altLang="ru-RU" sz="2400" dirty="0">
                <a:solidFill>
                  <a:srgbClr val="FF0000"/>
                </a:solidFill>
              </a:rPr>
              <a:t>__</a:t>
            </a:r>
          </a:p>
          <a:p>
            <a:pPr lvl="0" algn="l" defTabSz="914400" eaLnBrk="1" hangingPunct="1">
              <a:lnSpc>
                <a:spcPct val="80000"/>
              </a:lnSpc>
              <a:spcBef>
                <a:spcPct val="0"/>
              </a:spcBef>
              <a:defRPr/>
            </a:pPr>
            <a:endParaRPr lang="ru-RU" altLang="ru-RU" sz="2000" u="sng" dirty="0">
              <a:solidFill>
                <a:srgbClr val="FF0000"/>
              </a:solidFill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ru-RU" altLang="ru-RU" sz="2200" b="0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altLang="ru-RU" sz="1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altLang="ru-RU" sz="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ru-RU" altLang="ru-RU" sz="800" b="0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A02C01-F3A7-4DE2-9DF2-AD08FA4829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516" y="1980431"/>
            <a:ext cx="91440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 dirty="0">
                <a:solidFill>
                  <a:prstClr val="white"/>
                </a:solidFill>
                <a:latin typeface="Arial" charset="0"/>
              </a:rPr>
              <a:t>НЕГОСУДАРСТВЕННОЕ ОБРАЗОВАТЕЛЬНОЕ ЧАСТНОЕ УЧРЕЖДЕНИЕ ВЫСШЕГО ОБРАЗОВАНИЯ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 dirty="0">
                <a:solidFill>
                  <a:prstClr val="white"/>
                </a:solidFill>
                <a:latin typeface="Arial" charset="0"/>
              </a:rPr>
              <a:t>«МОСКОВСКИЙ ФИНАНСОВО-ПРОМЫШЛЕННЫЙ УНИВЕРСИТЕТ «СИНЕРГИЯ» 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 dirty="0">
                <a:solidFill>
                  <a:prstClr val="white"/>
                </a:solidFill>
                <a:latin typeface="Arial" charset="0"/>
              </a:rPr>
              <a:t>Колледж «Синергия»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>
                <a:solidFill>
                  <a:prstClr val="white"/>
                </a:solidFill>
                <a:latin typeface="Arial" charset="0"/>
              </a:rPr>
              <a:t>Кафедра </a:t>
            </a:r>
            <a:r>
              <a:rPr lang="ru-RU" altLang="ru-RU" sz="1400" b="1" dirty="0">
                <a:solidFill>
                  <a:prstClr val="white"/>
                </a:solidFill>
                <a:latin typeface="Arial" charset="0"/>
              </a:rPr>
              <a:t>Цифровой экономики</a:t>
            </a:r>
          </a:p>
        </p:txBody>
      </p:sp>
    </p:spTree>
    <p:extLst>
      <p:ext uri="{BB962C8B-B14F-4D97-AF65-F5344CB8AC3E}">
        <p14:creationId xmlns:p14="http://schemas.microsoft.com/office/powerpoint/2010/main" val="979125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651316"/>
            <a:ext cx="9687193" cy="387798"/>
          </a:xfrm>
        </p:spPr>
        <p:txBody>
          <a:bodyPr/>
          <a:lstStyle/>
          <a:p>
            <a:r>
              <a:rPr lang="ru-RU" sz="2800" dirty="0"/>
              <a:t>Содержание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2673" y="1908423"/>
            <a:ext cx="9358378" cy="4478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ru-RU" sz="25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Инструктаж по соблюдению правил противопожарной безопасности, правил охраны труда, техники безопасности, санитарно-эпидемиологических правил и гигиенических нормативов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ru-RU" sz="25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Изучение организационной структуры и технического оснащения предприятия – объекта практики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ru-RU" sz="25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Сбор информации об объекте практики и анализ содержания источников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ru-RU" sz="25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Экспериментально-практическая работа. Приобретение необходимых знаний, умений и первоначального опыта практической работы по специальности в рамках освоения вида деятельности ВД 5. Проектирование и разработка информационных систем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ru-RU" sz="25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Обработка и систематизация полученного фактического материала</a:t>
            </a:r>
          </a:p>
        </p:txBody>
      </p:sp>
    </p:spTree>
    <p:extLst>
      <p:ext uri="{BB962C8B-B14F-4D97-AF65-F5344CB8AC3E}">
        <p14:creationId xmlns:p14="http://schemas.microsoft.com/office/powerpoint/2010/main" val="4084783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651316"/>
            <a:ext cx="9687193" cy="387798"/>
          </a:xfrm>
        </p:spPr>
        <p:txBody>
          <a:bodyPr/>
          <a:lstStyle/>
          <a:p>
            <a:r>
              <a:rPr lang="ru-RU" sz="2800" dirty="0"/>
              <a:t>Организационный этап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2673" y="1980431"/>
            <a:ext cx="9358378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Пройдено инструктивное совещание с руководителем практики:</a:t>
            </a:r>
          </a:p>
          <a:p>
            <a:pPr marL="885066" lvl="1" indent="-363538">
              <a:spcAft>
                <a:spcPts val="1200"/>
              </a:spcAft>
              <a:buFont typeface="Arial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Требования к внешнему виду: </a:t>
            </a:r>
            <a:r>
              <a:rPr lang="ru-RU" sz="2000" dirty="0"/>
              <a:t>Деловой стиль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85066" lvl="1" indent="-363538">
              <a:spcAft>
                <a:spcPts val="1200"/>
              </a:spcAft>
              <a:buFont typeface="Arial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График работы: </a:t>
            </a:r>
            <a:r>
              <a:rPr lang="ru-RU" sz="2000" dirty="0"/>
              <a:t>Понедельник – воскресение 8:00-22:00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85066" lvl="1" indent="-363538">
              <a:spcAft>
                <a:spcPts val="1200"/>
              </a:spcAft>
              <a:buFont typeface="Arial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Круг обязанностей: </a:t>
            </a:r>
            <a:r>
              <a:rPr lang="en-US" sz="2000" dirty="0"/>
              <a:t>Data scientist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1200"/>
              </a:spcAft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15816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651316"/>
            <a:ext cx="9687193" cy="387798"/>
          </a:xfrm>
        </p:spPr>
        <p:txBody>
          <a:bodyPr/>
          <a:lstStyle/>
          <a:p>
            <a:r>
              <a:rPr lang="ru-RU" sz="2800" dirty="0"/>
              <a:t>Организационный этап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3230" y="1851805"/>
            <a:ext cx="93583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Изучены инструкции по технике безопасности и охране труда, инструкции о мерах пожарной безопасности, схемы аварийных проходов и выходов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EDE685C4-E9F0-4C39-B05A-89C1C8B310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4432" y="3012464"/>
            <a:ext cx="4824536" cy="3501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4688C83-8C55-E7CE-97E0-3ABE3D0E2DC5}"/>
              </a:ext>
            </a:extLst>
          </p:cNvPr>
          <p:cNvSpPr txBox="1"/>
          <p:nvPr/>
        </p:nvSpPr>
        <p:spPr>
          <a:xfrm>
            <a:off x="1386260" y="6781907"/>
            <a:ext cx="756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538163">
              <a:spcAft>
                <a:spcPts val="1200"/>
              </a:spcAft>
            </a:pPr>
            <a:r>
              <a:rPr lang="ru-RU" sz="1800" b="1" i="1" dirty="0">
                <a:solidFill>
                  <a:schemeClr val="accent6">
                    <a:lumMod val="75000"/>
                  </a:schemeClr>
                </a:solidFill>
              </a:rPr>
              <a:t>Рисунок 1. Схема аварийных проходов и выходов (схема эвакуации)</a:t>
            </a:r>
          </a:p>
        </p:txBody>
      </p:sp>
    </p:spTree>
    <p:extLst>
      <p:ext uri="{BB962C8B-B14F-4D97-AF65-F5344CB8AC3E}">
        <p14:creationId xmlns:p14="http://schemas.microsoft.com/office/powerpoint/2010/main" val="4117254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651315"/>
            <a:ext cx="9687193" cy="387798"/>
          </a:xfrm>
        </p:spPr>
        <p:txBody>
          <a:bodyPr/>
          <a:lstStyle/>
          <a:p>
            <a:r>
              <a:rPr lang="ru-RU" sz="2800" dirty="0"/>
              <a:t>Описание компании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3230" y="1851805"/>
            <a:ext cx="9358378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3538" indent="-363538">
              <a:spcAft>
                <a:spcPts val="1200"/>
              </a:spcAft>
              <a:buFont typeface="Arial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Название компании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1200"/>
              </a:spcAf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BCP – Booking Creative Places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3538" indent="-363538">
              <a:spcAft>
                <a:spcPts val="1200"/>
              </a:spcAft>
              <a:buFont typeface="Arial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Сфера деятельности компании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1200"/>
              </a:spcAft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Площадка, для выставления и бронирования креативных мест в Москве</a:t>
            </a:r>
          </a:p>
          <a:p>
            <a:pPr marL="363538" indent="-363538">
              <a:spcAft>
                <a:spcPts val="1200"/>
              </a:spcAft>
              <a:buFont typeface="Arial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Масштаб компании (численность персонала)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1200"/>
              </a:spcAf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4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Человека, создающие сайт: аналитик данных,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backend-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разработчик,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data scientist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и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UX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UI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дизайнер</a:t>
            </a:r>
          </a:p>
          <a:p>
            <a:pPr marL="363538" indent="-363538">
              <a:spcAft>
                <a:spcPts val="1200"/>
              </a:spcAft>
              <a:buFont typeface="Arial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Клиенты компании</a:t>
            </a:r>
          </a:p>
          <a:p>
            <a:pPr>
              <a:spcAft>
                <a:spcPts val="1200"/>
              </a:spcAft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Арендаторы, которые арендуют креативные места в Москве и арендодатели, которые выкладывают креативные места в Москве для аренды</a:t>
            </a:r>
          </a:p>
          <a:p>
            <a:pPr marL="363538" indent="-363538">
              <a:spcAft>
                <a:spcPts val="1200"/>
              </a:spcAft>
              <a:buFont typeface="Arial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Технико-экономические показатели</a:t>
            </a:r>
          </a:p>
          <a:p>
            <a:pPr>
              <a:spcAft>
                <a:spcPts val="1200"/>
              </a:spcAft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Затраты на создание сайта «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BCP – Booking Creative Places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» - 0 рублей.</a:t>
            </a:r>
          </a:p>
        </p:txBody>
      </p:sp>
    </p:spTree>
    <p:extLst>
      <p:ext uri="{BB962C8B-B14F-4D97-AF65-F5344CB8AC3E}">
        <p14:creationId xmlns:p14="http://schemas.microsoft.com/office/powerpoint/2010/main" val="4284592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651316"/>
            <a:ext cx="9687193" cy="387798"/>
          </a:xfrm>
        </p:spPr>
        <p:txBody>
          <a:bodyPr/>
          <a:lstStyle/>
          <a:p>
            <a:r>
              <a:rPr lang="ru-RU" sz="2800" dirty="0"/>
              <a:t>Описание компании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-341932" y="6084887"/>
            <a:ext cx="109452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38163">
              <a:spcAft>
                <a:spcPts val="1200"/>
              </a:spcAft>
            </a:pPr>
            <a:r>
              <a:rPr lang="ru-RU" sz="2400" b="1" dirty="0"/>
              <a:t>Рисунок 2. Организационная структура сайта «</a:t>
            </a:r>
            <a:r>
              <a:rPr lang="en-US" sz="2400" b="1" dirty="0"/>
              <a:t>BCP – Booking Creative Places</a:t>
            </a:r>
            <a:r>
              <a:rPr lang="ru-RU" sz="2400" b="1" dirty="0"/>
              <a:t>»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6EDAC73-9943-D5FE-0183-598281A0CA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5662" y="1967101"/>
            <a:ext cx="5810027" cy="411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960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651316"/>
            <a:ext cx="9687193" cy="387798"/>
          </a:xfrm>
        </p:spPr>
        <p:txBody>
          <a:bodyPr/>
          <a:lstStyle/>
          <a:p>
            <a:r>
              <a:rPr lang="ru-RU" sz="2800" dirty="0"/>
              <a:t>Описание компании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7080" y="1908423"/>
            <a:ext cx="935837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3538" indent="-363538" algn="just">
              <a:spcAft>
                <a:spcPts val="1200"/>
              </a:spcAft>
              <a:buFont typeface="Arial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Изучить нормативную документацию организации, кратко описать (привести перечень нормативных документов компании, с которыми вы ознакомились)</a:t>
            </a:r>
          </a:p>
          <a:p>
            <a:pPr marL="457200" indent="-457200" algn="just">
              <a:spcAft>
                <a:spcPts val="1200"/>
              </a:spcAft>
              <a:buAutoNum type="arabicPeriod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Положение о персональных данных</a:t>
            </a:r>
          </a:p>
          <a:p>
            <a:pPr marL="457200" indent="-457200" algn="just">
              <a:spcAft>
                <a:spcPts val="1200"/>
              </a:spcAft>
              <a:buAutoNum type="arabicPeriod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Положение о защите персональных данных</a:t>
            </a:r>
          </a:p>
          <a:p>
            <a:pPr marL="457200" indent="-457200" algn="just">
              <a:spcAft>
                <a:spcPts val="1200"/>
              </a:spcAft>
              <a:buAutoNum type="arabicPeriod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Положение о корпоративной этике</a:t>
            </a:r>
          </a:p>
          <a:p>
            <a:pPr marL="457200" indent="-457200" algn="just">
              <a:spcAft>
                <a:spcPts val="1200"/>
              </a:spcAft>
              <a:buAutoNum type="arabicPeriod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Положение о переходе на электронный документооборот</a:t>
            </a:r>
          </a:p>
        </p:txBody>
      </p:sp>
    </p:spTree>
    <p:extLst>
      <p:ext uri="{BB962C8B-B14F-4D97-AF65-F5344CB8AC3E}">
        <p14:creationId xmlns:p14="http://schemas.microsoft.com/office/powerpoint/2010/main" val="2478873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651315"/>
            <a:ext cx="9687193" cy="387798"/>
          </a:xfrm>
        </p:spPr>
        <p:txBody>
          <a:bodyPr/>
          <a:lstStyle/>
          <a:p>
            <a:r>
              <a:rPr lang="ru-RU" sz="2800" dirty="0"/>
              <a:t>Функции подразделений компании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8148" y="1692399"/>
            <a:ext cx="9358378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3538" indent="-363538">
              <a:spcAft>
                <a:spcPts val="1200"/>
              </a:spcAft>
              <a:buFont typeface="Arial" pitchFamily="34" charset="0"/>
              <a:buChar char="•"/>
            </a:pPr>
            <a: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  <a:t>Администрация</a:t>
            </a:r>
          </a:p>
          <a:p>
            <a:pPr marL="885066" lvl="1" indent="-363538">
              <a:spcAft>
                <a:spcPts val="1200"/>
              </a:spcAft>
              <a:buFont typeface="Courier New" pitchFamily="49" charset="0"/>
              <a:buChar char="o"/>
            </a:pPr>
            <a: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  <a:t>Подтверждение запроса на публикацию креативного места на сайте, отвечать на вопросы от пользователей сайта.</a:t>
            </a:r>
          </a:p>
          <a:p>
            <a:pPr marL="363538" lvl="1" indent="-363538">
              <a:spcAft>
                <a:spcPts val="1200"/>
              </a:spcAft>
              <a:buFont typeface="Arial" pitchFamily="34" charset="0"/>
              <a:buChar char="•"/>
            </a:pPr>
            <a: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  <a:t>Арендаторы</a:t>
            </a:r>
          </a:p>
          <a:p>
            <a:pPr marL="885066" lvl="1" indent="-363538">
              <a:spcAft>
                <a:spcPts val="1200"/>
              </a:spcAft>
              <a:buFont typeface="Courier New" pitchFamily="49" charset="0"/>
              <a:buChar char="o"/>
            </a:pPr>
            <a: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  <a:t>Аренда креативных мест на сайте</a:t>
            </a:r>
          </a:p>
          <a:p>
            <a:pPr marL="363538" lvl="1" indent="-363538">
              <a:spcAft>
                <a:spcPts val="1200"/>
              </a:spcAft>
              <a:buFont typeface="Arial" pitchFamily="34" charset="0"/>
              <a:buChar char="•"/>
            </a:pPr>
            <a: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  <a:t>Арендодатели</a:t>
            </a:r>
          </a:p>
          <a:p>
            <a:pPr marL="885066" lvl="1" indent="-363538">
              <a:spcAft>
                <a:spcPts val="1200"/>
              </a:spcAft>
              <a:buFont typeface="Courier New" pitchFamily="49" charset="0"/>
              <a:buChar char="o"/>
            </a:pPr>
            <a: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  <a:t>Публикация креативных мест на сайте</a:t>
            </a:r>
          </a:p>
          <a:p>
            <a:pPr marL="363538" lvl="1" indent="-363538">
              <a:spcAft>
                <a:spcPts val="1200"/>
              </a:spcAft>
              <a:buFont typeface="Arial" pitchFamily="34" charset="0"/>
              <a:buChar char="•"/>
            </a:pPr>
            <a: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  <a:t>Отдел разработки</a:t>
            </a:r>
          </a:p>
          <a:p>
            <a:pPr marL="885066" lvl="1" indent="-363538">
              <a:spcAft>
                <a:spcPts val="1200"/>
              </a:spcAft>
              <a:buFont typeface="Courier New" pitchFamily="49" charset="0"/>
              <a:buChar char="o"/>
            </a:pPr>
            <a: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  <a:t>Работа над созданием и поддержкой сайта</a:t>
            </a:r>
          </a:p>
          <a:p>
            <a:pPr marL="363538" lvl="1" indent="-363538">
              <a:spcAft>
                <a:spcPts val="1200"/>
              </a:spcAft>
              <a:buFont typeface="Arial" pitchFamily="34" charset="0"/>
              <a:buChar char="•"/>
            </a:pP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UX</a:t>
            </a:r>
            <a: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UI </a:t>
            </a:r>
            <a: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  <a:t>дизайнер</a:t>
            </a:r>
          </a:p>
          <a:p>
            <a:pPr marL="885066" lvl="1" indent="-363538">
              <a:spcAft>
                <a:spcPts val="1200"/>
              </a:spcAft>
              <a:buFont typeface="Courier New" pitchFamily="49" charset="0"/>
              <a:buChar char="o"/>
            </a:pPr>
            <a: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  <a:t>Разработка понятных и простых интерфейсов для сайта</a:t>
            </a:r>
          </a:p>
          <a:p>
            <a:pPr marL="363538" lvl="1" indent="-363538">
              <a:spcAft>
                <a:spcPts val="1200"/>
              </a:spcAft>
              <a:buFont typeface="Arial" pitchFamily="34" charset="0"/>
              <a:buChar char="•"/>
            </a:pP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Backend-</a:t>
            </a:r>
            <a: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  <a:t>разработчик</a:t>
            </a:r>
          </a:p>
          <a:p>
            <a:pPr marL="885066" lvl="1" indent="-363538">
              <a:spcAft>
                <a:spcPts val="1200"/>
              </a:spcAft>
              <a:buFont typeface="Courier New" pitchFamily="49" charset="0"/>
              <a:buChar char="o"/>
            </a:pPr>
            <a: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  <a:t>Работа с сервером сайта</a:t>
            </a:r>
          </a:p>
          <a:p>
            <a:pPr marL="363538" lvl="1" indent="-363538">
              <a:spcAft>
                <a:spcPts val="1200"/>
              </a:spcAft>
              <a:buFont typeface="Arial" pitchFamily="34" charset="0"/>
              <a:buChar char="•"/>
            </a:pPr>
            <a: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  <a:t>Аналитик данных</a:t>
            </a:r>
          </a:p>
          <a:p>
            <a:pPr marL="885066" lvl="1" indent="-363538">
              <a:spcAft>
                <a:spcPts val="1200"/>
              </a:spcAft>
              <a:buFont typeface="Courier New" pitchFamily="49" charset="0"/>
              <a:buChar char="o"/>
            </a:pPr>
            <a: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  <a:t>Собирает, обрабатывает, изучает и интерпретирует данные</a:t>
            </a:r>
          </a:p>
          <a:p>
            <a:pPr marL="363538" lvl="1" indent="-363538">
              <a:spcAft>
                <a:spcPts val="1200"/>
              </a:spcAft>
              <a:buFont typeface="Arial" pitchFamily="34" charset="0"/>
              <a:buChar char="•"/>
            </a:pP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Data scientist</a:t>
            </a:r>
            <a:endParaRPr lang="ru-RU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85066" lvl="1" indent="-363538">
              <a:spcAft>
                <a:spcPts val="1200"/>
              </a:spcAft>
              <a:buFont typeface="Courier New" pitchFamily="49" charset="0"/>
              <a:buChar char="o"/>
            </a:pPr>
            <a: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  <a:t>Разработка, доработка и обновление базы данных для сайта</a:t>
            </a:r>
          </a:p>
        </p:txBody>
      </p:sp>
    </p:spTree>
    <p:extLst>
      <p:ext uri="{BB962C8B-B14F-4D97-AF65-F5344CB8AC3E}">
        <p14:creationId xmlns:p14="http://schemas.microsoft.com/office/powerpoint/2010/main" val="2327685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457416"/>
            <a:ext cx="9687193" cy="775597"/>
          </a:xfrm>
        </p:spPr>
        <p:txBody>
          <a:bodyPr/>
          <a:lstStyle/>
          <a:p>
            <a:r>
              <a:rPr lang="ru-RU" sz="2800" dirty="0"/>
              <a:t>Сбор информации об объекте практики и анализ содержания источников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124447"/>
            <a:ext cx="10693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3538" indent="-363538" algn="just">
              <a:spcAft>
                <a:spcPts val="1200"/>
              </a:spcAft>
              <a:buFont typeface="Arial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Используя ЭБС «ЮРАЙТ» и </a:t>
            </a:r>
            <a:r>
              <a:rPr lang="ru-RU" sz="2000" u="sng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https://biblioclub.ru/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ознакомился с уровнями технического оснащения рабочих мест;</a:t>
            </a:r>
          </a:p>
          <a:p>
            <a:pPr marL="363538" indent="-363538" algn="just">
              <a:spcAft>
                <a:spcPts val="1200"/>
              </a:spcAft>
              <a:buFont typeface="Arial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Составил список использованной литературы при прохождении практики. Список находится на последнем слайде!</a:t>
            </a:r>
          </a:p>
        </p:txBody>
      </p:sp>
    </p:spTree>
    <p:extLst>
      <p:ext uri="{BB962C8B-B14F-4D97-AF65-F5344CB8AC3E}">
        <p14:creationId xmlns:p14="http://schemas.microsoft.com/office/powerpoint/2010/main" val="22095845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457416"/>
            <a:ext cx="9687193" cy="775597"/>
          </a:xfrm>
        </p:spPr>
        <p:txBody>
          <a:bodyPr/>
          <a:lstStyle/>
          <a:p>
            <a:r>
              <a:rPr lang="ru-RU" sz="2800" dirty="0"/>
              <a:t>Сбор информации об объекте практики и анализ содержания источников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7080" y="2124447"/>
            <a:ext cx="9358378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3538" indent="-363538" algn="just">
              <a:spcAft>
                <a:spcPts val="1200"/>
              </a:spcAft>
              <a:buFont typeface="Arial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Ознакомился с технической составляющей компании по месту прохождения практики. Изучил уровни технического оснащения мест сотрудников различных отделов. Ознакомился с сетью организации. По итогам составил таблицу технического оснащения рабочих станций и серверов компании, а также составил схему технической архитектуры (схема составлялась с использованием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diagrams.net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spcAft>
                <a:spcPts val="1200"/>
              </a:spcAft>
            </a:pP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1734126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457416"/>
            <a:ext cx="9687193" cy="775597"/>
          </a:xfrm>
        </p:spPr>
        <p:txBody>
          <a:bodyPr/>
          <a:lstStyle/>
          <a:p>
            <a:r>
              <a:rPr lang="ru-RU" sz="2800" dirty="0"/>
              <a:t>Сбор информации об объекте практики и анализ содержания источников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7080" y="2124447"/>
            <a:ext cx="9358378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3538" indent="-363538" algn="just">
              <a:spcAft>
                <a:spcPts val="1200"/>
              </a:spcAft>
              <a:buFont typeface="Arial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Ознакомился с программным составляющим компании по месту прохождения практики. Ознакомился и описал ПО, которое используется у специалистов компании. Составил схему программной архитектуры компании (схема составлялась с использованием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diagrams.net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spcAft>
                <a:spcPts val="1200"/>
              </a:spcAft>
            </a:pP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8140325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457416"/>
            <a:ext cx="9687193" cy="775597"/>
          </a:xfrm>
        </p:spPr>
        <p:txBody>
          <a:bodyPr/>
          <a:lstStyle/>
          <a:p>
            <a:r>
              <a:rPr lang="ru-RU" sz="2800" dirty="0"/>
              <a:t>Сбор информации об объекте практики и анализ содержания источников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531953" y="5989662"/>
            <a:ext cx="56886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38163">
              <a:spcAft>
                <a:spcPts val="1200"/>
              </a:spcAft>
            </a:pPr>
            <a:r>
              <a:rPr lang="ru-RU" sz="2400" b="1" dirty="0"/>
              <a:t>Рисунок 6. Техническая архитектура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01E754C-7535-91A6-04C7-60A928125E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4017" y="1935549"/>
            <a:ext cx="4105366" cy="4054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3500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457417"/>
            <a:ext cx="9687193" cy="775597"/>
          </a:xfrm>
        </p:spPr>
        <p:txBody>
          <a:bodyPr/>
          <a:lstStyle/>
          <a:p>
            <a:r>
              <a:rPr lang="ru-RU" sz="2800" dirty="0"/>
              <a:t>Сбор информации об объекте практики и анализ содержания источников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250356" y="6080165"/>
            <a:ext cx="57606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38163">
              <a:spcAft>
                <a:spcPts val="1200"/>
              </a:spcAft>
            </a:pPr>
            <a:r>
              <a:rPr lang="ru-RU" sz="2400" b="1" dirty="0"/>
              <a:t>Рисунок 7. Программная архитектура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69B553B-A195-F4D8-7723-2E3C6A246D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4392" y="1987191"/>
            <a:ext cx="5544616" cy="4034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6031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457417"/>
            <a:ext cx="9687193" cy="775597"/>
          </a:xfrm>
        </p:spPr>
        <p:txBody>
          <a:bodyPr/>
          <a:lstStyle/>
          <a:p>
            <a:r>
              <a:rPr lang="ru-RU" sz="2800" dirty="0"/>
              <a:t>Сбор информации об объекте практики и анализ содержания источников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4910269"/>
              </p:ext>
            </p:extLst>
          </p:nvPr>
        </p:nvGraphicFramePr>
        <p:xfrm>
          <a:off x="2466380" y="1836415"/>
          <a:ext cx="6048672" cy="417646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52106">
                  <a:extLst>
                    <a:ext uri="{9D8B030D-6E8A-4147-A177-3AD203B41FA5}">
                      <a16:colId xmlns:a16="http://schemas.microsoft.com/office/drawing/2014/main" val="2807150684"/>
                    </a:ext>
                  </a:extLst>
                </a:gridCol>
                <a:gridCol w="2896566">
                  <a:extLst>
                    <a:ext uri="{9D8B030D-6E8A-4147-A177-3AD203B41FA5}">
                      <a16:colId xmlns:a16="http://schemas.microsoft.com/office/drawing/2014/main" val="2530061810"/>
                    </a:ext>
                  </a:extLst>
                </a:gridCol>
              </a:tblGrid>
              <a:tr h="264612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Технические характеристики серверов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729824"/>
                  </a:ext>
                </a:extLst>
              </a:tr>
              <a:tr h="26461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Количество процессоров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1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431535646"/>
                  </a:ext>
                </a:extLst>
              </a:tr>
              <a:tr h="26461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Процессор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Intel Xeon </a:t>
                      </a:r>
                      <a:r>
                        <a:rPr lang="en-US" sz="1100" dirty="0">
                          <a:effectLst/>
                        </a:rPr>
                        <a:t>E5450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181990362"/>
                  </a:ext>
                </a:extLst>
              </a:tr>
              <a:tr h="26461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Количество ядер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325209322"/>
                  </a:ext>
                </a:extLst>
              </a:tr>
              <a:tr h="26461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Частота процессора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3000</a:t>
                      </a:r>
                      <a:r>
                        <a:rPr lang="ru-RU" sz="1100" dirty="0">
                          <a:effectLst/>
                        </a:rPr>
                        <a:t> </a:t>
                      </a:r>
                      <a:r>
                        <a:rPr lang="ru-RU" sz="1100" dirty="0" err="1">
                          <a:effectLst/>
                        </a:rPr>
                        <a:t>GHz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849715309"/>
                  </a:ext>
                </a:extLst>
              </a:tr>
              <a:tr h="26461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Оперативная память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16 Gb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4037973314"/>
                  </a:ext>
                </a:extLst>
              </a:tr>
              <a:tr h="26461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Слоты для памяти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4 слотов DIMM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436982193"/>
                  </a:ext>
                </a:extLst>
              </a:tr>
              <a:tr h="26461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Память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DDR</a:t>
                      </a:r>
                      <a:r>
                        <a:rPr lang="en-US" sz="1100" dirty="0">
                          <a:effectLst/>
                        </a:rPr>
                        <a:t>4</a:t>
                      </a:r>
                      <a:r>
                        <a:rPr lang="ru-RU" sz="1100" dirty="0">
                          <a:effectLst/>
                        </a:rPr>
                        <a:t> </a:t>
                      </a:r>
                      <a:r>
                        <a:rPr lang="en-US" sz="1100" dirty="0">
                          <a:effectLst/>
                        </a:rPr>
                        <a:t>DIMM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435077862"/>
                  </a:ext>
                </a:extLst>
              </a:tr>
              <a:tr h="26461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Гнёзда расширения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до 4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063847991"/>
                  </a:ext>
                </a:extLst>
              </a:tr>
              <a:tr h="26461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Сетевой контроллер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(1) 1 порт 1GbE NC107i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273729276"/>
                  </a:ext>
                </a:extLst>
              </a:tr>
              <a:tr h="26461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Тип блока питания 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Без горячей замены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791493523"/>
                  </a:ext>
                </a:extLst>
              </a:tr>
              <a:tr h="26461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Контроллер хранилища 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Контроллер </a:t>
                      </a:r>
                      <a:r>
                        <a:rPr lang="en-US" sz="1100">
                          <a:effectLst/>
                        </a:rPr>
                        <a:t>Smart Array B110i SATA RAID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468854169"/>
                  </a:ext>
                </a:extLst>
              </a:tr>
              <a:tr h="26461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Форм-фактор в полной конфигурации)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4U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102081407"/>
                  </a:ext>
                </a:extLst>
              </a:tr>
              <a:tr h="7365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ПО удаленного управления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Решение</a:t>
                      </a:r>
                      <a:r>
                        <a:rPr lang="en-US" sz="1100" dirty="0">
                          <a:effectLst/>
                        </a:rPr>
                        <a:t> Onboard Administrator, </a:t>
                      </a:r>
                      <a:r>
                        <a:rPr lang="ru-RU" sz="1100" dirty="0">
                          <a:effectLst/>
                        </a:rPr>
                        <a:t>поддерживаемое</a:t>
                      </a:r>
                      <a:r>
                        <a:rPr lang="en-US" sz="1100" dirty="0">
                          <a:effectLst/>
                        </a:rPr>
                        <a:t> Lights Out 100, </a:t>
                      </a:r>
                      <a:r>
                        <a:rPr lang="ru-RU" sz="1100" dirty="0">
                          <a:effectLst/>
                        </a:rPr>
                        <a:t>и компакт</a:t>
                      </a:r>
                      <a:r>
                        <a:rPr lang="en-US" sz="1100" dirty="0">
                          <a:effectLst/>
                        </a:rPr>
                        <a:t>-</a:t>
                      </a:r>
                      <a:r>
                        <a:rPr lang="ru-RU" sz="1100" dirty="0">
                          <a:effectLst/>
                        </a:rPr>
                        <a:t>диск</a:t>
                      </a:r>
                      <a:r>
                        <a:rPr lang="en-US" sz="1100" dirty="0">
                          <a:effectLst/>
                        </a:rPr>
                        <a:t> Easy Set-up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55136973"/>
                  </a:ext>
                </a:extLst>
              </a:tr>
            </a:tbl>
          </a:graphicData>
        </a:graphic>
      </p:graphicFrame>
      <p:sp>
        <p:nvSpPr>
          <p:cNvPr id="4" name="Прямоугольник 3"/>
          <p:cNvSpPr/>
          <p:nvPr/>
        </p:nvSpPr>
        <p:spPr>
          <a:xfrm>
            <a:off x="2250356" y="6037547"/>
            <a:ext cx="71287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38163">
              <a:spcAft>
                <a:spcPts val="1200"/>
              </a:spcAft>
            </a:pPr>
            <a:r>
              <a:rPr lang="ru-RU" sz="2400" b="1" dirty="0"/>
              <a:t>Таблица 1. Характеристика серверов</a:t>
            </a:r>
          </a:p>
        </p:txBody>
      </p:sp>
    </p:spTree>
    <p:extLst>
      <p:ext uri="{BB962C8B-B14F-4D97-AF65-F5344CB8AC3E}">
        <p14:creationId xmlns:p14="http://schemas.microsoft.com/office/powerpoint/2010/main" val="17378930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457417"/>
            <a:ext cx="9687193" cy="775597"/>
          </a:xfrm>
        </p:spPr>
        <p:txBody>
          <a:bodyPr/>
          <a:lstStyle/>
          <a:p>
            <a:r>
              <a:rPr lang="ru-RU" sz="2800" dirty="0"/>
              <a:t>Сбор информации об объекте практики и анализ содержания источников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6572622"/>
              </p:ext>
            </p:extLst>
          </p:nvPr>
        </p:nvGraphicFramePr>
        <p:xfrm>
          <a:off x="1818308" y="2122635"/>
          <a:ext cx="7848872" cy="388843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050547">
                  <a:extLst>
                    <a:ext uri="{9D8B030D-6E8A-4147-A177-3AD203B41FA5}">
                      <a16:colId xmlns:a16="http://schemas.microsoft.com/office/drawing/2014/main" val="1539374336"/>
                    </a:ext>
                  </a:extLst>
                </a:gridCol>
                <a:gridCol w="3798325">
                  <a:extLst>
                    <a:ext uri="{9D8B030D-6E8A-4147-A177-3AD203B41FA5}">
                      <a16:colId xmlns:a16="http://schemas.microsoft.com/office/drawing/2014/main" val="2722596685"/>
                    </a:ext>
                  </a:extLst>
                </a:gridCol>
              </a:tblGrid>
              <a:tr h="243027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Технические характеристики рабочих станций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4817308"/>
                  </a:ext>
                </a:extLst>
              </a:tr>
              <a:tr h="2430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Количество процессоров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1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534472015"/>
                  </a:ext>
                </a:extLst>
              </a:tr>
              <a:tr h="2430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Процессор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AMD Ryzen 5 2600x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192119856"/>
                  </a:ext>
                </a:extLst>
              </a:tr>
              <a:tr h="2430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Количество ядер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090300589"/>
                  </a:ext>
                </a:extLst>
              </a:tr>
              <a:tr h="2430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Серия процессора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2600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46377521"/>
                  </a:ext>
                </a:extLst>
              </a:tr>
              <a:tr h="2430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Частота процессора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3600 </a:t>
                      </a:r>
                      <a:r>
                        <a:rPr lang="ru-RU" sz="1100" dirty="0" err="1">
                          <a:effectLst/>
                        </a:rPr>
                        <a:t>GHz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91215908"/>
                  </a:ext>
                </a:extLst>
              </a:tr>
              <a:tr h="2430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Видеокарта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NVIDIA GeForce GTX 1050TI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390457917"/>
                  </a:ext>
                </a:extLst>
              </a:tr>
              <a:tr h="2430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Кэш-память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1</a:t>
                      </a:r>
                      <a:r>
                        <a:rPr lang="ru-RU" sz="1100" dirty="0">
                          <a:effectLst/>
                        </a:rPr>
                        <a:t>6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4013251890"/>
                  </a:ext>
                </a:extLst>
              </a:tr>
              <a:tr h="2430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Чипсет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B450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768064830"/>
                  </a:ext>
                </a:extLst>
              </a:tr>
              <a:tr h="2430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Тип видеокарта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Дискретная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845947258"/>
                  </a:ext>
                </a:extLst>
              </a:tr>
              <a:tr h="2430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Оперативная память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16 </a:t>
                      </a:r>
                      <a:r>
                        <a:rPr lang="ru-RU" sz="1100" dirty="0" err="1">
                          <a:effectLst/>
                        </a:rPr>
                        <a:t>Gb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624676382"/>
                  </a:ext>
                </a:extLst>
              </a:tr>
              <a:tr h="2430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Тип оперативной памяти 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DDR4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681988987"/>
                  </a:ext>
                </a:extLst>
              </a:tr>
              <a:tr h="2430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Частота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2996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518472522"/>
                  </a:ext>
                </a:extLst>
              </a:tr>
              <a:tr h="2430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Жесткий диск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WD Blue WD10EZEX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211983096"/>
                  </a:ext>
                </a:extLst>
              </a:tr>
              <a:tr h="2430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Емкость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1</a:t>
                      </a:r>
                      <a:r>
                        <a:rPr lang="en-US" sz="1100" dirty="0">
                          <a:effectLst/>
                        </a:rPr>
                        <a:t> Tb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378236564"/>
                  </a:ext>
                </a:extLst>
              </a:tr>
              <a:tr h="2430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Скорость вращения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7200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974896431"/>
                  </a:ext>
                </a:extLst>
              </a:tr>
            </a:tbl>
          </a:graphicData>
        </a:graphic>
      </p:graphicFrame>
      <p:sp>
        <p:nvSpPr>
          <p:cNvPr id="4" name="Прямоугольник 3"/>
          <p:cNvSpPr/>
          <p:nvPr/>
        </p:nvSpPr>
        <p:spPr>
          <a:xfrm>
            <a:off x="2034332" y="6012879"/>
            <a:ext cx="71287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38163">
              <a:spcAft>
                <a:spcPts val="1200"/>
              </a:spcAft>
            </a:pPr>
            <a:r>
              <a:rPr lang="ru-RU" sz="2400" b="1" dirty="0"/>
              <a:t>Таблица 2. Характеристика рабочих станций</a:t>
            </a:r>
          </a:p>
        </p:txBody>
      </p:sp>
    </p:spTree>
    <p:extLst>
      <p:ext uri="{BB962C8B-B14F-4D97-AF65-F5344CB8AC3E}">
        <p14:creationId xmlns:p14="http://schemas.microsoft.com/office/powerpoint/2010/main" val="1871613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97080" y="1908423"/>
            <a:ext cx="940214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Приобрёл профессиональные умения в проектировании и разработке информационных систем и отразил в отчетной презентации результаты работы по итогам: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постановки задач по обработке информации;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проведения анализа предметной области;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осуществления выбора модели и средств построения информационной системы и программных средств;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использования алгоритмов обработки информации для различных приложений;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решения прикладных вопросов программирования и языка сценариев для создания программ;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разработки графического интерфейса приложения;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создания и управления проектом по разработке приложения;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проектирования и разработки системы по заданным требованиям и спецификациям.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651316"/>
            <a:ext cx="9687193" cy="387798"/>
          </a:xfrm>
        </p:spPr>
        <p:txBody>
          <a:bodyPr/>
          <a:lstStyle/>
          <a:p>
            <a:r>
              <a:rPr lang="ru-RU" sz="2800" dirty="0"/>
              <a:t>Экспериментально-практическая работа</a:t>
            </a:r>
          </a:p>
        </p:txBody>
      </p:sp>
    </p:spTree>
    <p:extLst>
      <p:ext uri="{BB962C8B-B14F-4D97-AF65-F5344CB8AC3E}">
        <p14:creationId xmlns:p14="http://schemas.microsoft.com/office/powerpoint/2010/main" val="12099192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651316"/>
            <a:ext cx="9687193" cy="387798"/>
          </a:xfrm>
        </p:spPr>
        <p:txBody>
          <a:bodyPr/>
          <a:lstStyle/>
          <a:p>
            <a:r>
              <a:rPr lang="ru-RU" sz="2800" dirty="0"/>
              <a:t>Экспериментально-практическая работа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7080" y="2124447"/>
            <a:ext cx="935837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3538" indent="-363538" algn="just">
              <a:spcAft>
                <a:spcPts val="1200"/>
              </a:spcAft>
              <a:buFont typeface="Arial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Провёл анализ предметной области и подготовил тезисы для разработки и оформления технического задания;</a:t>
            </a:r>
          </a:p>
          <a:p>
            <a:pPr marL="363538" indent="-363538" algn="just">
              <a:spcAft>
                <a:spcPts val="1200"/>
              </a:spcAft>
              <a:buFont typeface="Arial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Описал предметную область, в рамках которой создаётся информационная система;</a:t>
            </a:r>
          </a:p>
          <a:p>
            <a:pPr marL="363538" indent="-363538" algn="just">
              <a:spcAft>
                <a:spcPts val="1200"/>
              </a:spcAft>
              <a:buFont typeface="Arial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Построил архитектуру программного средства;</a:t>
            </a:r>
          </a:p>
          <a:p>
            <a:pPr marL="363538" indent="-363538" algn="just">
              <a:spcAft>
                <a:spcPts val="1200"/>
              </a:spcAft>
              <a:buFont typeface="Arial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Сформулировал требования к программному обеспечению системы;</a:t>
            </a:r>
          </a:p>
          <a:p>
            <a:pPr marL="363538" indent="-363538" algn="just">
              <a:spcAft>
                <a:spcPts val="1200"/>
              </a:spcAft>
              <a:buFont typeface="Arial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Описал требования к пользовательскому интерфейсу. Сформулировал технические требования к реализации и режимам работы информационной системы.</a:t>
            </a:r>
          </a:p>
        </p:txBody>
      </p:sp>
    </p:spTree>
    <p:extLst>
      <p:ext uri="{BB962C8B-B14F-4D97-AF65-F5344CB8AC3E}">
        <p14:creationId xmlns:p14="http://schemas.microsoft.com/office/powerpoint/2010/main" val="22237506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651316"/>
            <a:ext cx="9687193" cy="387798"/>
          </a:xfrm>
        </p:spPr>
        <p:txBody>
          <a:bodyPr/>
          <a:lstStyle/>
          <a:p>
            <a:r>
              <a:rPr lang="ru-RU" sz="2800" dirty="0"/>
              <a:t>Экспериментально-практическая работа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2702919" y="5940871"/>
            <a:ext cx="5346700" cy="861774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538163">
              <a:spcAft>
                <a:spcPts val="1200"/>
              </a:spcAft>
            </a:pPr>
            <a:r>
              <a:rPr lang="ru-RU" sz="2000" b="1" dirty="0"/>
              <a:t>Рисунок 8. Анализ предметной области</a:t>
            </a:r>
          </a:p>
          <a:p>
            <a:pPr indent="538163">
              <a:spcAft>
                <a:spcPts val="1200"/>
              </a:spcAft>
            </a:pPr>
            <a:endParaRPr lang="ru-RU" sz="2000" b="1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9579D3C-5375-CCBF-4A4C-84A23DD13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476" y="2145862"/>
            <a:ext cx="6612763" cy="37610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22A97CC-240E-0722-F402-DB7B751A2ED0}"/>
              </a:ext>
            </a:extLst>
          </p:cNvPr>
          <p:cNvSpPr txBox="1"/>
          <p:nvPr/>
        </p:nvSpPr>
        <p:spPr>
          <a:xfrm>
            <a:off x="306140" y="2690192"/>
            <a:ext cx="288032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Разработанная база данных применяется для сбора и хранения информации о данных клиентов, площадках, выставленных на сайте и заявках на бронирование.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681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651316"/>
            <a:ext cx="9687193" cy="387798"/>
          </a:xfrm>
        </p:spPr>
        <p:txBody>
          <a:bodyPr/>
          <a:lstStyle/>
          <a:p>
            <a:r>
              <a:rPr lang="ru-RU" sz="2800" dirty="0"/>
              <a:t>Экспериментально-практическая работа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2394372" y="6148458"/>
            <a:ext cx="5256584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38163">
              <a:spcAft>
                <a:spcPts val="1200"/>
              </a:spcAft>
            </a:pPr>
            <a:r>
              <a:rPr lang="ru-RU" sz="2000" b="1" dirty="0"/>
              <a:t>Рисунок 9. Требования, написанные в ТЗ</a:t>
            </a:r>
          </a:p>
          <a:p>
            <a:pPr indent="538163">
              <a:spcAft>
                <a:spcPts val="1200"/>
              </a:spcAft>
            </a:pPr>
            <a:endParaRPr lang="ru-RU" sz="2000" b="1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24A26A8-65D6-A12F-3432-48DC51EF12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9414" y="1836415"/>
            <a:ext cx="4994571" cy="4316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0760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651316"/>
            <a:ext cx="9687193" cy="387798"/>
          </a:xfrm>
        </p:spPr>
        <p:txBody>
          <a:bodyPr/>
          <a:lstStyle/>
          <a:p>
            <a:r>
              <a:rPr lang="ru-RU" sz="2800" dirty="0"/>
              <a:t>Экспериментально-практическая работа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2034332" y="6091618"/>
            <a:ext cx="697192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38163">
              <a:spcAft>
                <a:spcPts val="1200"/>
              </a:spcAft>
            </a:pPr>
            <a:r>
              <a:rPr lang="ru-RU" sz="2000" b="1" dirty="0"/>
              <a:t>Рисунок 10. Таблица «Администрация» из базы данных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91B5BAB-C6F5-DF66-E341-08CC11B33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841" y="3636615"/>
            <a:ext cx="8992855" cy="83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7904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651316"/>
            <a:ext cx="9687193" cy="387798"/>
          </a:xfrm>
        </p:spPr>
        <p:txBody>
          <a:bodyPr/>
          <a:lstStyle/>
          <a:p>
            <a:r>
              <a:rPr lang="ru-RU" sz="2800" dirty="0"/>
              <a:t>Экспериментально-практическая работа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1962324" y="6228903"/>
            <a:ext cx="653988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38163">
              <a:spcAft>
                <a:spcPts val="1200"/>
              </a:spcAft>
            </a:pPr>
            <a:r>
              <a:rPr lang="ru-RU" sz="2000" b="1" dirty="0"/>
              <a:t>Рисунок 11. Таблица «Арендаторы» из базы данных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CEFE883-0BAD-E912-D77E-42094CCFB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641" y="3564607"/>
            <a:ext cx="8726118" cy="7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6914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651316"/>
            <a:ext cx="9687193" cy="387798"/>
          </a:xfrm>
        </p:spPr>
        <p:txBody>
          <a:bodyPr/>
          <a:lstStyle/>
          <a:p>
            <a:r>
              <a:rPr lang="ru-RU" sz="2800" dirty="0"/>
              <a:t>Экспериментально-практическая работа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1860736" y="6619489"/>
            <a:ext cx="697192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38163">
              <a:spcAft>
                <a:spcPts val="1200"/>
              </a:spcAft>
            </a:pPr>
            <a:r>
              <a:rPr lang="ru-RU" sz="2000" b="1" dirty="0"/>
              <a:t>Рисунок 12. Таблица «Арендодатели» из базы данных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EE063B6-FDC8-FFFE-2FA5-9D9A608DC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209" y="3410143"/>
            <a:ext cx="9812119" cy="83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4739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651316"/>
            <a:ext cx="9687193" cy="387798"/>
          </a:xfrm>
        </p:spPr>
        <p:txBody>
          <a:bodyPr/>
          <a:lstStyle/>
          <a:p>
            <a:r>
              <a:rPr lang="ru-RU" sz="2800" dirty="0"/>
              <a:t>Экспериментально-практическая работа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2374585" y="6709892"/>
            <a:ext cx="58981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38163">
              <a:spcAft>
                <a:spcPts val="1200"/>
              </a:spcAft>
            </a:pPr>
            <a:r>
              <a:rPr lang="ru-RU" sz="2000" b="1" dirty="0"/>
              <a:t>Рисунок 13. Таблица «Метро» из базы данных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387B996-8CA1-A074-E79F-76DAB5DC0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4532" y="1908423"/>
            <a:ext cx="3024336" cy="460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7457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651316"/>
            <a:ext cx="9687193" cy="387798"/>
          </a:xfrm>
        </p:spPr>
        <p:txBody>
          <a:bodyPr/>
          <a:lstStyle/>
          <a:p>
            <a:r>
              <a:rPr lang="ru-RU" sz="2800" dirty="0"/>
              <a:t>Экспериментально-практическая работа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810196" y="6709892"/>
            <a:ext cx="87849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38163">
              <a:spcAft>
                <a:spcPts val="1200"/>
              </a:spcAft>
            </a:pPr>
            <a:r>
              <a:rPr lang="ru-RU" sz="2000" b="1" dirty="0"/>
              <a:t>Рисунок 14. Таблица «Дополнительное оборудование» из базы данных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F951DE0-1C54-C59B-8E44-7B4656D4E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772" y="1908423"/>
            <a:ext cx="4609855" cy="4536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8090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651316"/>
            <a:ext cx="9687193" cy="387798"/>
          </a:xfrm>
        </p:spPr>
        <p:txBody>
          <a:bodyPr/>
          <a:lstStyle/>
          <a:p>
            <a:r>
              <a:rPr lang="ru-RU" sz="2800" dirty="0"/>
              <a:t>Экспериментально-практическая работа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1736406" y="6709892"/>
            <a:ext cx="722058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38163">
              <a:spcAft>
                <a:spcPts val="1200"/>
              </a:spcAft>
            </a:pPr>
            <a:r>
              <a:rPr lang="ru-RU" sz="2000" b="1" dirty="0"/>
              <a:t>Рисунок 15. Таблица «Заявки на аренду» из базы данных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CEC1906-7DEB-9AB6-BF54-1B9E48A48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72" y="3332894"/>
            <a:ext cx="9716856" cy="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4561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651316"/>
            <a:ext cx="9687193" cy="387798"/>
          </a:xfrm>
        </p:spPr>
        <p:txBody>
          <a:bodyPr/>
          <a:lstStyle/>
          <a:p>
            <a:r>
              <a:rPr lang="ru-RU" sz="2800" dirty="0"/>
              <a:t>Экспериментально-практическая работа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1736406" y="6709892"/>
            <a:ext cx="722058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38163">
              <a:spcAft>
                <a:spcPts val="1200"/>
              </a:spcAft>
            </a:pPr>
            <a:r>
              <a:rPr lang="ru-RU" sz="2000" b="1" dirty="0"/>
              <a:t>Рисунок 16. Таблица «Карточки товаров» из базы данных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697D7F7-26BF-300D-1525-C8F5189D94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10216"/>
            <a:ext cx="10693400" cy="740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1396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651316"/>
            <a:ext cx="9687193" cy="387798"/>
          </a:xfrm>
        </p:spPr>
        <p:txBody>
          <a:bodyPr/>
          <a:lstStyle/>
          <a:p>
            <a:r>
              <a:rPr lang="ru-RU" sz="2800" dirty="0"/>
              <a:t>Экспериментально-практическая работа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1808414" y="6709892"/>
            <a:ext cx="707657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38163">
              <a:spcAft>
                <a:spcPts val="1200"/>
              </a:spcAft>
            </a:pPr>
            <a:r>
              <a:rPr lang="ru-RU" sz="2000" b="1" dirty="0"/>
              <a:t>Рисунок 17. Таблица «Типы площадок» из базы данных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B1F4866-6BEB-DF28-B813-C79F086B8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077" y="2776765"/>
            <a:ext cx="6751245" cy="309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9901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651316"/>
            <a:ext cx="9687193" cy="387798"/>
          </a:xfrm>
        </p:spPr>
        <p:txBody>
          <a:bodyPr/>
          <a:lstStyle/>
          <a:p>
            <a:r>
              <a:rPr lang="ru-RU" sz="2800" dirty="0"/>
              <a:t>Экспериментально-практическая работа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738188" y="6709892"/>
            <a:ext cx="843482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38163">
              <a:spcAft>
                <a:spcPts val="1200"/>
              </a:spcAft>
            </a:pPr>
            <a:r>
              <a:rPr lang="ru-RU" sz="2000" b="1" dirty="0"/>
              <a:t>Рисунок 18. Диаграмма Классов сайта «</a:t>
            </a:r>
            <a:r>
              <a:rPr lang="en-US" sz="2000" b="1" dirty="0"/>
              <a:t>BCP – Booking Creative Places</a:t>
            </a:r>
            <a:r>
              <a:rPr lang="ru-RU" sz="2000" b="1" dirty="0"/>
              <a:t>»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AACE82A-A712-AFB9-E0AD-9C9791BE91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8266" y="1980431"/>
            <a:ext cx="6996867" cy="4437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6586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651316"/>
            <a:ext cx="9687193" cy="387798"/>
          </a:xfrm>
        </p:spPr>
        <p:txBody>
          <a:bodyPr/>
          <a:lstStyle/>
          <a:p>
            <a:r>
              <a:rPr lang="ru-RU" sz="2800" dirty="0"/>
              <a:t>Экспериментально-практическая работа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450156" y="6709892"/>
            <a:ext cx="908290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38163">
              <a:spcAft>
                <a:spcPts val="1200"/>
              </a:spcAft>
            </a:pPr>
            <a:r>
              <a:rPr lang="ru-RU" sz="2000" b="1" dirty="0"/>
              <a:t>Рисунок 19. Диаграмма Компонентов сайта «</a:t>
            </a:r>
            <a:r>
              <a:rPr lang="en-US" sz="2000" b="1" dirty="0"/>
              <a:t>BCP – Booking Creative Places</a:t>
            </a:r>
            <a:r>
              <a:rPr lang="ru-RU" sz="2000" b="1" dirty="0"/>
              <a:t>»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1B1E9B4-53D0-CCFB-6212-8702E70949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8045" y="1836415"/>
            <a:ext cx="7257310" cy="466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0081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651316"/>
            <a:ext cx="9687193" cy="387798"/>
          </a:xfrm>
        </p:spPr>
        <p:txBody>
          <a:bodyPr/>
          <a:lstStyle/>
          <a:p>
            <a:r>
              <a:rPr lang="ru-RU" sz="2800" dirty="0"/>
              <a:t>Экспериментально-практическая работа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530295" y="6709892"/>
            <a:ext cx="908290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38163">
              <a:spcAft>
                <a:spcPts val="1200"/>
              </a:spcAft>
            </a:pPr>
            <a:r>
              <a:rPr lang="ru-RU" sz="2000" b="1" dirty="0"/>
              <a:t>Рисунок 20. Диаграмма Прецедентов сайта «</a:t>
            </a:r>
            <a:r>
              <a:rPr lang="en-US" sz="2000" b="1" dirty="0"/>
              <a:t>BCP – Booking Creative Places</a:t>
            </a:r>
            <a:r>
              <a:rPr lang="ru-RU" sz="2000" b="1" dirty="0"/>
              <a:t>»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CA27FDC-A0B2-5269-002B-62FDEBF46B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2159" y="1908423"/>
            <a:ext cx="4509081" cy="4566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9014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651316"/>
            <a:ext cx="9687193" cy="387798"/>
          </a:xfrm>
        </p:spPr>
        <p:txBody>
          <a:bodyPr/>
          <a:lstStyle/>
          <a:p>
            <a:r>
              <a:rPr lang="ru-RU" sz="2800" dirty="0"/>
              <a:t>Экспериментально-практическая работа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378148" y="6709892"/>
            <a:ext cx="929892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38163">
              <a:spcAft>
                <a:spcPts val="1200"/>
              </a:spcAft>
            </a:pPr>
            <a:r>
              <a:rPr lang="ru-RU" sz="2000" b="1" dirty="0"/>
              <a:t>Рисунок 21. Диаграмма развёртывания сайта «</a:t>
            </a:r>
            <a:r>
              <a:rPr lang="en-US" sz="2000" b="1" dirty="0"/>
              <a:t>BCP – Booking Creative Places</a:t>
            </a:r>
            <a:r>
              <a:rPr lang="ru-RU" sz="2000" b="1" dirty="0"/>
              <a:t>»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D9ECDFF-3BCF-30D3-E1B9-F92295A2FB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0256" y="1980431"/>
            <a:ext cx="7992888" cy="4443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6536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651316"/>
            <a:ext cx="9687193" cy="387798"/>
          </a:xfrm>
        </p:spPr>
        <p:txBody>
          <a:bodyPr/>
          <a:lstStyle/>
          <a:p>
            <a:r>
              <a:rPr lang="ru-RU" sz="2800" dirty="0"/>
              <a:t>Экспериментально-практическая работа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89B396E4-0206-47DF-8BD4-46D91790AA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4389040"/>
              </p:ext>
            </p:extLst>
          </p:nvPr>
        </p:nvGraphicFramePr>
        <p:xfrm>
          <a:off x="666180" y="1251341"/>
          <a:ext cx="9361040" cy="5119791"/>
        </p:xfrm>
        <a:graphic>
          <a:graphicData uri="http://schemas.openxmlformats.org/drawingml/2006/table">
            <a:tbl>
              <a:tblPr firstRow="1" firstCol="1" bandRow="1"/>
              <a:tblGrid>
                <a:gridCol w="1008112">
                  <a:extLst>
                    <a:ext uri="{9D8B030D-6E8A-4147-A177-3AD203B41FA5}">
                      <a16:colId xmlns:a16="http://schemas.microsoft.com/office/drawing/2014/main" val="3408292508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4143845065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106372154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37359864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3920348813"/>
                    </a:ext>
                  </a:extLst>
                </a:gridCol>
              </a:tblGrid>
              <a:tr h="54495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№ проверки</a:t>
                      </a:r>
                      <a:endParaRPr lang="ru-RU" sz="1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Вид проверки</a:t>
                      </a:r>
                      <a:endParaRPr lang="ru-RU" sz="1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000" b="1" dirty="0" err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Критериальный</a:t>
                      </a:r>
                      <a:r>
                        <a:rPr lang="ru-RU" sz="1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параметр</a:t>
                      </a:r>
                      <a:endParaRPr lang="ru-RU" sz="1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000" b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Допустимые значения</a:t>
                      </a:r>
                      <a:endParaRPr lang="ru-RU" sz="10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Результат проверки</a:t>
                      </a:r>
                      <a:endParaRPr lang="ru-RU" sz="1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0964009"/>
                  </a:ext>
                </a:extLst>
              </a:tr>
              <a:tr h="184134"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Ввод данных в при регистрации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Максимальная длина почты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не менее 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0227945"/>
                  </a:ext>
                </a:extLst>
              </a:tr>
              <a:tr h="27436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Допустимый диапазон дат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01.01.1955-31.12.2090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соответствует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0593422"/>
                  </a:ext>
                </a:extLst>
              </a:tr>
              <a:tr h="432048"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Загрузка данных пользователя в БД после регистрации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Время загрузки 1000 записей в БД не менее 100 000 записей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</a:t>
                      </a:r>
                      <a:r>
                        <a:rPr lang="ru-RU" sz="1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1,5 с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1,2 с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735484"/>
                  </a:ext>
                </a:extLst>
              </a:tr>
              <a:tr h="576064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Реакция на ошибку загрузки данных в БД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Сообщение об ошибке в отдельном окне.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Прекращение обработки файла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соответствует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2499552"/>
                  </a:ext>
                </a:extLst>
              </a:tr>
              <a:tr h="193164"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 Публикация креативного места на сайте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 Максимальное количество публикуемых мест за 10 минут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Не более 2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 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656959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Реакция на недопустимое описание карточки креативного места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Сообщение об ошибке.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Удаление данной карточки с сайта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соответствует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8660823"/>
                  </a:ext>
                </a:extLst>
              </a:tr>
              <a:tr h="402238"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Добавление дополнительного оборудования при бронировании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Максимальное кол-во дополнительного оборудования на одну бронь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Не более 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4225814"/>
                  </a:ext>
                </a:extLst>
              </a:tr>
              <a:tr h="83202">
                <a:tc v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Реакция на добавление недопустимого оборудования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Сообщение об ошибке.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Отказ в добавлении оборудования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соответствует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8677406"/>
                  </a:ext>
                </a:extLst>
              </a:tr>
              <a:tr h="193164"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Срок бронирования креативного места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Минимальный срок бронирования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 день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20 дней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8237472"/>
                  </a:ext>
                </a:extLst>
              </a:tr>
              <a:tr h="193164">
                <a:tc v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Допустимый диапазон дат для бронирования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От 1 дня до 3 месяцев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соответствует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034007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74AB137-74CD-4C60-BB60-C17FCC65FD8A}"/>
              </a:ext>
            </a:extLst>
          </p:cNvPr>
          <p:cNvSpPr txBox="1"/>
          <p:nvPr/>
        </p:nvSpPr>
        <p:spPr>
          <a:xfrm>
            <a:off x="1666799" y="6660951"/>
            <a:ext cx="709278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Таблица 4. Экспериментальное тестирование выбранного/ </a:t>
            </a:r>
          </a:p>
          <a:p>
            <a:pPr algn="ctr"/>
            <a:r>
              <a:rPr lang="ru-RU" b="1" dirty="0"/>
              <a:t>разработанного решения</a:t>
            </a:r>
          </a:p>
        </p:txBody>
      </p:sp>
    </p:spTree>
    <p:extLst>
      <p:ext uri="{BB962C8B-B14F-4D97-AF65-F5344CB8AC3E}">
        <p14:creationId xmlns:p14="http://schemas.microsoft.com/office/powerpoint/2010/main" val="8205305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20" y="512982"/>
            <a:ext cx="9687193" cy="387798"/>
          </a:xfrm>
        </p:spPr>
        <p:txBody>
          <a:bodyPr/>
          <a:lstStyle/>
          <a:p>
            <a:r>
              <a:rPr lang="ru-RU" sz="2800" dirty="0"/>
              <a:t>Экспериментально-практическая работа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8832608F-9A2E-4758-8639-627807361D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9360039"/>
              </p:ext>
            </p:extLst>
          </p:nvPr>
        </p:nvGraphicFramePr>
        <p:xfrm>
          <a:off x="416536" y="2556495"/>
          <a:ext cx="9860327" cy="3580132"/>
        </p:xfrm>
        <a:graphic>
          <a:graphicData uri="http://schemas.openxmlformats.org/drawingml/2006/table">
            <a:tbl>
              <a:tblPr firstRow="1" firstCol="1" bandRow="1"/>
              <a:tblGrid>
                <a:gridCol w="2049844">
                  <a:extLst>
                    <a:ext uri="{9D8B030D-6E8A-4147-A177-3AD203B41FA5}">
                      <a16:colId xmlns:a16="http://schemas.microsoft.com/office/drawing/2014/main" val="2107215683"/>
                    </a:ext>
                  </a:extLst>
                </a:gridCol>
                <a:gridCol w="7810483">
                  <a:extLst>
                    <a:ext uri="{9D8B030D-6E8A-4147-A177-3AD203B41FA5}">
                      <a16:colId xmlns:a16="http://schemas.microsoft.com/office/drawing/2014/main" val="2620710091"/>
                    </a:ext>
                  </a:extLst>
                </a:gridCol>
              </a:tblGrid>
              <a:tr h="201103">
                <a:tc>
                  <a:txBody>
                    <a:bodyPr/>
                    <a:lstStyle/>
                    <a:p>
                      <a:pPr indent="215900" algn="ctr">
                        <a:lnSpc>
                          <a:spcPct val="150000"/>
                        </a:lnSpc>
                      </a:pPr>
                      <a:r>
                        <a:rPr lang="ru-RU" sz="1050" b="1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Параметр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15900" algn="ctr">
                        <a:lnSpc>
                          <a:spcPct val="150000"/>
                        </a:lnSpc>
                      </a:pPr>
                      <a:r>
                        <a:rPr lang="ru-RU" sz="1050" b="1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Значение</a:t>
                      </a:r>
                      <a:endParaRPr lang="ru-RU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0412"/>
                  </a:ext>
                </a:extLst>
              </a:tr>
              <a:tr h="201103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105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Функция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15900" algn="just">
                        <a:lnSpc>
                          <a:spcPct val="150000"/>
                        </a:lnSpc>
                      </a:pPr>
                      <a:r>
                        <a:rPr lang="ru-RU" sz="105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1. Занесение данных в БД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4829454"/>
                  </a:ext>
                </a:extLst>
              </a:tr>
              <a:tr h="659553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105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Предмет проверки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15900" algn="just">
                        <a:lnSpc>
                          <a:spcPct val="150000"/>
                        </a:lnSpc>
                      </a:pPr>
                      <a:r>
                        <a:rPr lang="ru-RU" sz="105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1.1. Время занесения данных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indent="215900" algn="just">
                        <a:lnSpc>
                          <a:spcPct val="150000"/>
                        </a:lnSpc>
                      </a:pPr>
                      <a:r>
                        <a:rPr lang="ru-RU" sz="105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1.2. Соответствие формы переноса данных образцу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indent="215900" algn="just">
                        <a:lnSpc>
                          <a:spcPct val="150000"/>
                        </a:lnSpc>
                      </a:pPr>
                      <a:r>
                        <a:rPr lang="ru-RU" sz="105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1.3. Правильность занесения данных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1455846"/>
                  </a:ext>
                </a:extLst>
              </a:tr>
              <a:tr h="430328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105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Используемые средства</a:t>
                      </a:r>
                      <a:endParaRPr lang="ru-RU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15900" algn="just">
                        <a:lnSpc>
                          <a:spcPct val="150000"/>
                        </a:lnSpc>
                      </a:pPr>
                      <a:r>
                        <a:rPr lang="ru-RU" sz="105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1.1. Секундомер для замера времени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indent="215900" algn="just">
                        <a:lnSpc>
                          <a:spcPct val="150000"/>
                        </a:lnSpc>
                      </a:pPr>
                      <a:r>
                        <a:rPr lang="ru-RU" sz="105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1.2. Шаблон показа данных в БД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7800363"/>
                  </a:ext>
                </a:extLst>
              </a:tr>
              <a:tr h="237846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105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Исходные данные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15900" algn="just">
                        <a:lnSpc>
                          <a:spcPct val="150000"/>
                        </a:lnSpc>
                      </a:pPr>
                      <a:r>
                        <a:rPr lang="ru-RU" sz="105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Данные пользователя, которые он вводит при регистрации на сайте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8068374"/>
                  </a:ext>
                </a:extLst>
              </a:tr>
              <a:tr h="749991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105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Искажения тестовой информации для имитации нештатных ситуаций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15900" algn="just">
                        <a:lnSpc>
                          <a:spcPct val="150000"/>
                        </a:lnSpc>
                      </a:pPr>
                      <a:r>
                        <a:rPr lang="ru-RU" sz="105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А) в записи 48 все поля имеют нулевую длину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indent="215900" algn="just">
                        <a:lnSpc>
                          <a:spcPct val="150000"/>
                        </a:lnSpc>
                      </a:pPr>
                      <a:r>
                        <a:rPr lang="ru-RU" sz="105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Б) в записи 49 все поля имеют размер более максимально допустимого по заданию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8465451"/>
                  </a:ext>
                </a:extLst>
              </a:tr>
              <a:tr h="546153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105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Ожидаемая реакция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15900" algn="just">
                        <a:lnSpc>
                          <a:spcPct val="150000"/>
                        </a:lnSpc>
                      </a:pPr>
                      <a:r>
                        <a:rPr lang="ru-RU" sz="105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1.1. Время переноса данные в БД не более 1,5 секунд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indent="215900" algn="just">
                        <a:lnSpc>
                          <a:spcPct val="150000"/>
                        </a:lnSpc>
                      </a:pPr>
                      <a:r>
                        <a:rPr lang="ru-RU" sz="105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1.2. Полный перенос правильных данных в БД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2774758"/>
                  </a:ext>
                </a:extLst>
              </a:tr>
              <a:tr h="483788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105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Способ определения результатов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15900" algn="just">
                        <a:lnSpc>
                          <a:spcPct val="150000"/>
                        </a:lnSpc>
                      </a:pPr>
                      <a:r>
                        <a:rPr lang="ru-RU" sz="105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Параметры, определяемые создателями и разработчиками сайта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035471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5E069842-5E4E-403A-B9F1-A24A72251340}"/>
              </a:ext>
            </a:extLst>
          </p:cNvPr>
          <p:cNvSpPr txBox="1"/>
          <p:nvPr/>
        </p:nvSpPr>
        <p:spPr>
          <a:xfrm>
            <a:off x="374289" y="6588943"/>
            <a:ext cx="1000911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Таблица 5. Экспериментальное тестирование выбранного/ </a:t>
            </a:r>
          </a:p>
          <a:p>
            <a:pPr algn="ctr"/>
            <a:r>
              <a:rPr lang="ru-RU" b="1" dirty="0"/>
              <a:t>разработанного решения</a:t>
            </a:r>
          </a:p>
        </p:txBody>
      </p:sp>
    </p:spTree>
    <p:extLst>
      <p:ext uri="{BB962C8B-B14F-4D97-AF65-F5344CB8AC3E}">
        <p14:creationId xmlns:p14="http://schemas.microsoft.com/office/powerpoint/2010/main" val="22415726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457416"/>
            <a:ext cx="9687193" cy="775597"/>
          </a:xfrm>
        </p:spPr>
        <p:txBody>
          <a:bodyPr/>
          <a:lstStyle/>
          <a:p>
            <a:r>
              <a:rPr lang="ru-RU" sz="2800" dirty="0"/>
              <a:t>Обработка и анализ полученной информации об объекте практики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7080" y="1908423"/>
            <a:ext cx="935837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3538" indent="-363538" algn="just">
              <a:spcAft>
                <a:spcPts val="1200"/>
              </a:spcAft>
              <a:buFont typeface="Arial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Проанализировал аппаратную и программную составляющую отдела/лаборатории, привёл характеристики рабочих станций отдела/лаборатории в виде таблиц на 14 и 15 слайде;</a:t>
            </a:r>
          </a:p>
          <a:p>
            <a:pPr marL="363538" indent="-363538" algn="just">
              <a:spcAft>
                <a:spcPts val="1200"/>
              </a:spcAft>
              <a:buFont typeface="Arial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Аппаратное и программное оснащение подходит для разработки ИС.</a:t>
            </a:r>
          </a:p>
          <a:p>
            <a:pPr algn="just">
              <a:spcAft>
                <a:spcPts val="1200"/>
              </a:spcAft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Примеры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ГОСТов/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ISO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: ГОСТ Р ИСО/МЭК 27001-2021, ГОСТ Р ИСО 9001-2008.</a:t>
            </a:r>
          </a:p>
          <a:p>
            <a:pPr marL="363538" indent="-363538" algn="just">
              <a:spcAft>
                <a:spcPts val="1200"/>
              </a:spcAft>
              <a:buFont typeface="Arial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Проанализировал и описал деятельность лаборатории/подразделения по месту прохождения практики на 8 слайде;</a:t>
            </a:r>
          </a:p>
          <a:p>
            <a:pPr marL="363538" indent="-363538" algn="just">
              <a:spcAft>
                <a:spcPts val="1200"/>
              </a:spcAft>
              <a:buFont typeface="Arial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Провёл модернизацию/актуализацию технической архитектуры отдела/лаборатории в соответствии с решаемыми задачами. Приложил схему актуализированной технической архитектуры отдела/лаборатории на 12 слайде.</a:t>
            </a:r>
          </a:p>
        </p:txBody>
      </p:sp>
    </p:spTree>
    <p:extLst>
      <p:ext uri="{BB962C8B-B14F-4D97-AF65-F5344CB8AC3E}">
        <p14:creationId xmlns:p14="http://schemas.microsoft.com/office/powerpoint/2010/main" val="5171324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457416"/>
            <a:ext cx="9687193" cy="775597"/>
          </a:xfrm>
        </p:spPr>
        <p:txBody>
          <a:bodyPr/>
          <a:lstStyle/>
          <a:p>
            <a:r>
              <a:rPr lang="ru-RU" sz="2800" dirty="0"/>
              <a:t>Обработка и анализ полученной информации об объекте практики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7080" y="1908423"/>
            <a:ext cx="9358378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3538" indent="-363538" algn="just">
              <a:spcAft>
                <a:spcPts val="1200"/>
              </a:spcAft>
              <a:buFont typeface="Arial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Техническая документация приложена в отдельном файле 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(word)</a:t>
            </a:r>
            <a:r>
              <a:rPr lang="ru-RU" sz="200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3538" indent="-363538" algn="just">
              <a:spcAft>
                <a:spcPts val="1200"/>
              </a:spcAft>
              <a:buFont typeface="Arial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Необходимо составить таблицы: рисков и возможных дефектов программных средств;</a:t>
            </a:r>
          </a:p>
          <a:p>
            <a:pPr marL="363538" indent="-363538" algn="just">
              <a:spcAft>
                <a:spcPts val="1200"/>
              </a:spcAft>
              <a:buFont typeface="Arial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Необходимо обосновать экономическую эффективность внедренной ИС (подготовить расчеты по затратам на ИС и внедрению, указать срок окупаемости).</a:t>
            </a:r>
          </a:p>
          <a:p>
            <a:pPr algn="just">
              <a:spcAft>
                <a:spcPts val="1200"/>
              </a:spcAft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Затраты на разработку сайта – 0 рублей, окупаемость моментальная.</a:t>
            </a:r>
          </a:p>
        </p:txBody>
      </p:sp>
    </p:spTree>
    <p:extLst>
      <p:ext uri="{BB962C8B-B14F-4D97-AF65-F5344CB8AC3E}">
        <p14:creationId xmlns:p14="http://schemas.microsoft.com/office/powerpoint/2010/main" val="1577296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6BA53A-CD79-0004-BB14-ED92800AC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561291"/>
            <a:ext cx="9687193" cy="567848"/>
          </a:xfrm>
        </p:spPr>
        <p:txBody>
          <a:bodyPr/>
          <a:lstStyle/>
          <a:p>
            <a:r>
              <a:rPr lang="ru-RU" dirty="0"/>
              <a:t>Таблица рисков</a:t>
            </a:r>
            <a:endParaRPr lang="en-US" dirty="0"/>
          </a:p>
        </p:txBody>
      </p:sp>
      <p:graphicFrame>
        <p:nvGraphicFramePr>
          <p:cNvPr id="5" name="Таблица 5">
            <a:extLst>
              <a:ext uri="{FF2B5EF4-FFF2-40B4-BE49-F238E27FC236}">
                <a16:creationId xmlns:a16="http://schemas.microsoft.com/office/drawing/2014/main" id="{5E98B299-42E4-F210-083F-F99A3BCCDB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1579572"/>
              </p:ext>
            </p:extLst>
          </p:nvPr>
        </p:nvGraphicFramePr>
        <p:xfrm>
          <a:off x="378148" y="2668111"/>
          <a:ext cx="9937105" cy="3571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7421">
                  <a:extLst>
                    <a:ext uri="{9D8B030D-6E8A-4147-A177-3AD203B41FA5}">
                      <a16:colId xmlns:a16="http://schemas.microsoft.com/office/drawing/2014/main" val="1099991577"/>
                    </a:ext>
                  </a:extLst>
                </a:gridCol>
                <a:gridCol w="1987421">
                  <a:extLst>
                    <a:ext uri="{9D8B030D-6E8A-4147-A177-3AD203B41FA5}">
                      <a16:colId xmlns:a16="http://schemas.microsoft.com/office/drawing/2014/main" val="280195446"/>
                    </a:ext>
                  </a:extLst>
                </a:gridCol>
                <a:gridCol w="1987421">
                  <a:extLst>
                    <a:ext uri="{9D8B030D-6E8A-4147-A177-3AD203B41FA5}">
                      <a16:colId xmlns:a16="http://schemas.microsoft.com/office/drawing/2014/main" val="3277421168"/>
                    </a:ext>
                  </a:extLst>
                </a:gridCol>
                <a:gridCol w="2462673">
                  <a:extLst>
                    <a:ext uri="{9D8B030D-6E8A-4147-A177-3AD203B41FA5}">
                      <a16:colId xmlns:a16="http://schemas.microsoft.com/office/drawing/2014/main" val="662938330"/>
                    </a:ext>
                  </a:extLst>
                </a:gridCol>
                <a:gridCol w="1512169">
                  <a:extLst>
                    <a:ext uri="{9D8B030D-6E8A-4147-A177-3AD203B41FA5}">
                      <a16:colId xmlns:a16="http://schemas.microsoft.com/office/drawing/2014/main" val="1809257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Классификация рисков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Риск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Вероятность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Воздействие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Ранг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1198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Рыночный риск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Увеличение цен на аренду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Высокая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Среднее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Средний(9)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4308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Рыночный риск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Пользователи увидят более выгодные предложения на других сайтах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Средняя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Высокое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Средний-высокий(10/15)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370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Риск ликвидности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Увеличение срока создания сайта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Средняя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Высокое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Средний-высокий(12-15 )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7210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Маркетинговые риски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Уменьшение выручки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Низкая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Высокое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Средний(8)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713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Форс-мажор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Взлом сайта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Низкая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Высокое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Средний(10)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6476635"/>
                  </a:ext>
                </a:extLst>
              </a:tr>
            </a:tbl>
          </a:graphicData>
        </a:graphic>
      </p:graphicFrame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8612C01-A26C-FAEB-6281-7E8E666C550A}"/>
              </a:ext>
            </a:extLst>
          </p:cNvPr>
          <p:cNvSpPr/>
          <p:nvPr/>
        </p:nvSpPr>
        <p:spPr>
          <a:xfrm>
            <a:off x="-246545" y="6561136"/>
            <a:ext cx="1056179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38163">
              <a:spcAft>
                <a:spcPts val="1200"/>
              </a:spcAft>
            </a:pPr>
            <a:r>
              <a:rPr lang="ru-RU" sz="2400" b="1" dirty="0"/>
              <a:t>Таблица 6. Таблица рисков и возможных дефектов программных средств</a:t>
            </a:r>
          </a:p>
        </p:txBody>
      </p:sp>
    </p:spTree>
    <p:extLst>
      <p:ext uri="{BB962C8B-B14F-4D97-AF65-F5344CB8AC3E}">
        <p14:creationId xmlns:p14="http://schemas.microsoft.com/office/powerpoint/2010/main" val="2977974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AD8984-A38D-4E8D-95B8-FFA4856CB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651316"/>
            <a:ext cx="9687193" cy="387798"/>
          </a:xfrm>
        </p:spPr>
        <p:txBody>
          <a:bodyPr/>
          <a:lstStyle/>
          <a:p>
            <a:r>
              <a:rPr lang="ru-RU" sz="2800" dirty="0"/>
              <a:t>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08A2AF-8712-4604-BBB2-157140402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132" y="1980431"/>
            <a:ext cx="9824904" cy="4448648"/>
          </a:xfrm>
        </p:spPr>
        <p:txBody>
          <a:bodyPr>
            <a:normAutofit fontScale="92500" lnSpcReduction="10000"/>
          </a:bodyPr>
          <a:lstStyle/>
          <a:p>
            <a:pPr indent="291465" algn="just"/>
            <a:r>
              <a:rPr lang="ru-RU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Прошел ознакомительную лекцию, включая инструктаж по соблюдению правил противопожарной безопасности, правил охраны труда, техники безопасности, санитарно-эпидемиологических правил и гигиенических нормативов. 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291465" algn="just"/>
            <a:r>
              <a:rPr lang="ru-RU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Изучил организационную структуру и техническое оснащение исследуемого предприятия – объекта практики. </a:t>
            </a:r>
          </a:p>
          <a:p>
            <a:pPr indent="291465" algn="just"/>
            <a:r>
              <a:rPr lang="ru-RU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Собрал информацию об объекте практики и проанализировал содержание источников. </a:t>
            </a:r>
          </a:p>
          <a:p>
            <a:pPr indent="291465" algn="just"/>
            <a:r>
              <a:rPr lang="ru-RU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Сделал экспериментально-практическую работу. Приобрел необходимые умения и первоначальный опыт практической работы по специальности в рамках освоения вида деятельности ВД 5. Проектирование и разработка информационных систем. </a:t>
            </a:r>
          </a:p>
          <a:p>
            <a:pPr indent="291465" algn="just"/>
            <a:r>
              <a:rPr lang="ru-RU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Обработал и проанализировал полученную информацию об объекте практики. </a:t>
            </a:r>
          </a:p>
          <a:p>
            <a:pPr indent="291465" algn="just"/>
            <a:r>
              <a:rPr lang="ru-RU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Оформил отчетные документы о прохождении учебной практики.</a:t>
            </a:r>
          </a:p>
          <a:p>
            <a:pPr indent="291465" algn="just"/>
            <a:r>
              <a:rPr lang="ru-RU" sz="20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Для себя я понял, что должен ещё многому научиться в сфере 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data scientist, </a:t>
            </a:r>
            <a:r>
              <a:rPr lang="ru-RU" sz="20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чтобы работать увереннее и быстрее.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ru-RU" sz="2000" dirty="0">
              <a:solidFill>
                <a:srgbClr val="00000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87406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AD8984-A38D-4E8D-95B8-FFA4856CB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651316"/>
            <a:ext cx="9687193" cy="387798"/>
          </a:xfrm>
        </p:spPr>
        <p:txBody>
          <a:bodyPr/>
          <a:lstStyle/>
          <a:p>
            <a:r>
              <a:rPr lang="ru-RU" sz="2800" dirty="0"/>
              <a:t>Список используемой литературы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08A2AF-8712-4604-BBB2-157140402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124" y="1908423"/>
            <a:ext cx="9824904" cy="4448648"/>
          </a:xfrm>
        </p:spPr>
        <p:txBody>
          <a:bodyPr>
            <a:normAutofit fontScale="77500" lnSpcReduction="20000"/>
          </a:bodyPr>
          <a:lstStyle/>
          <a:p>
            <a:pPr marL="0" lvl="0" indent="542925" algn="just">
              <a:buFont typeface="+mj-lt"/>
              <a:buAutoNum type="arabicPeriod"/>
            </a:pPr>
            <a:r>
              <a:rPr lang="ru-RU" sz="2000" dirty="0" err="1"/>
              <a:t>Шандриков</a:t>
            </a:r>
            <a:r>
              <a:rPr lang="ru-RU" sz="2000" dirty="0"/>
              <a:t>, А.С. Информационные технологии : учебное пособие : [16+] / А.С. </a:t>
            </a:r>
            <a:r>
              <a:rPr lang="ru-RU" sz="2000" dirty="0" err="1"/>
              <a:t>Шандриков</a:t>
            </a:r>
            <a:r>
              <a:rPr lang="ru-RU" sz="2000" dirty="0"/>
              <a:t>. – 3-е изд., стер. – Минск : РИПО, 2019. – 445 с. : ил., табл. – Режим доступа: по подписке. – URL: </a:t>
            </a:r>
            <a:r>
              <a:rPr lang="ru-RU" sz="2000" u="sng" dirty="0">
                <a:hlinkClick r:id="rId2"/>
              </a:rPr>
              <a:t>https://biblioclub.ru/</a:t>
            </a:r>
            <a:r>
              <a:rPr lang="ru-RU" sz="2000" i="1" dirty="0"/>
              <a:t> </a:t>
            </a:r>
            <a:endParaRPr lang="ru-RU" sz="2000" dirty="0"/>
          </a:p>
          <a:p>
            <a:pPr marL="0" indent="542925" algn="just">
              <a:buFont typeface="+mj-lt"/>
              <a:buAutoNum type="arabicPeriod"/>
            </a:pPr>
            <a:r>
              <a:rPr lang="ru-RU" sz="2000" dirty="0"/>
              <a:t>Задачи по программированию : [12+] / С.М. Окулов, Т.В. Ашихмина, Н.А. </a:t>
            </a:r>
            <a:r>
              <a:rPr lang="ru-RU" sz="2000" dirty="0" err="1"/>
              <a:t>Бушмелева</a:t>
            </a:r>
            <a:r>
              <a:rPr lang="ru-RU" sz="2000" dirty="0"/>
              <a:t> и др. ; под ред. С.М. Окулова. – 4-е изд., </a:t>
            </a:r>
            <a:r>
              <a:rPr lang="ru-RU" sz="2000" dirty="0" err="1"/>
              <a:t>испр</a:t>
            </a:r>
            <a:r>
              <a:rPr lang="ru-RU" sz="2000" dirty="0"/>
              <a:t>., эл. – Москва : Лаборатория знаний, 2021. – 826 с. : ил., табл., схем., граф. – Режим доступа: по подписке. – URL: </a:t>
            </a:r>
            <a:r>
              <a:rPr lang="ru-RU" sz="2000" u="sng" dirty="0">
                <a:hlinkClick r:id="rId3"/>
              </a:rPr>
              <a:t>https://biblioclub.ru/</a:t>
            </a:r>
            <a:endParaRPr lang="ru-RU" sz="2000" dirty="0"/>
          </a:p>
          <a:p>
            <a:pPr marL="0" indent="542925" algn="just">
              <a:buFont typeface="+mj-lt"/>
              <a:buAutoNum type="arabicPeriod"/>
            </a:pPr>
            <a:r>
              <a:rPr lang="ru-RU" sz="2000" dirty="0"/>
              <a:t>Нагаева, И.А. Основы алгоритмизации и программирования: практикум : [12+] / И.А. Нагаева, И.А. Кузнецов. – Москва ; Берлин : Директ-Медиа, 2021. – 169 с. : схем. – Режим доступа: по подписке. – URL: </a:t>
            </a:r>
            <a:r>
              <a:rPr lang="ru-RU" sz="2000" u="sng" dirty="0">
                <a:hlinkClick r:id="rId4"/>
              </a:rPr>
              <a:t>https://biblioclub.ru/</a:t>
            </a:r>
            <a:endParaRPr lang="ru-RU" sz="2000" u="sng" dirty="0"/>
          </a:p>
          <a:p>
            <a:pPr marL="0" indent="542925" algn="just">
              <a:buFont typeface="+mj-lt"/>
              <a:buAutoNum type="arabicPeriod"/>
            </a:pPr>
            <a:r>
              <a:rPr lang="ru-RU" sz="2000" dirty="0"/>
              <a:t>Гниденко, И. Г. Технология разработки программного обеспечения : учебное пособие для среднего профессионального образования / И. Г. Гниденко, Ф. Ф. Павлов, Д. Ю. Федоров. — Москва : Издательство </a:t>
            </a:r>
            <a:r>
              <a:rPr lang="ru-RU" sz="2000" dirty="0" err="1"/>
              <a:t>Юрайт</a:t>
            </a:r>
            <a:r>
              <a:rPr lang="ru-RU" sz="2000" dirty="0"/>
              <a:t>, 2023. — 235 с. — (Профессиональное образование). — ISBN 978-5-534-05047-9. — URL : </a:t>
            </a:r>
            <a:r>
              <a:rPr lang="ru-RU" sz="2000" dirty="0">
                <a:hlinkClick r:id="rId5"/>
              </a:rPr>
              <a:t>https://urait.ru/bcode/514591</a:t>
            </a:r>
            <a:endParaRPr lang="ru-RU" sz="2000" dirty="0"/>
          </a:p>
          <a:p>
            <a:pPr marL="0" lvl="0" indent="542925">
              <a:buFont typeface="+mj-lt"/>
              <a:buAutoNum type="arabicPeriod"/>
            </a:pPr>
            <a:r>
              <a:rPr lang="ru-RU" sz="2000" dirty="0"/>
              <a:t>Чернышев, С. А. Основы программирования на Python : учебное пособие для среднего профессионального образования / С. А. Чернышев. — Москва : Издательство </a:t>
            </a:r>
            <a:r>
              <a:rPr lang="ru-RU" sz="2000" dirty="0" err="1"/>
              <a:t>Юрайт</a:t>
            </a:r>
            <a:r>
              <a:rPr lang="ru-RU" sz="2000" dirty="0"/>
              <a:t>, 2023. — 286 с. — (Профессиональное образование). — ISBN 978-5-534-15160-2. — URL : </a:t>
            </a:r>
            <a:r>
              <a:rPr lang="ru-RU" sz="2000" dirty="0">
                <a:hlinkClick r:id="rId6"/>
              </a:rPr>
              <a:t>https://urait.ru/bcode/519953</a:t>
            </a:r>
            <a:endParaRPr lang="ru-RU" sz="2000" dirty="0"/>
          </a:p>
          <a:p>
            <a:pPr marL="0" lvl="0" indent="542925">
              <a:buFont typeface="+mj-lt"/>
              <a:buAutoNum type="arabicPeriod"/>
            </a:pPr>
            <a:r>
              <a:rPr lang="ru-RU" sz="2000" dirty="0"/>
              <a:t>Огнева, М. В. Программирование на языке С++: практический курс : учебное пособие для среднего профессионального образования / М. В. Огнева, Е. В. Кудрина. — Москва : Издательство </a:t>
            </a:r>
            <a:r>
              <a:rPr lang="ru-RU" sz="2000" dirty="0" err="1"/>
              <a:t>Юрайт</a:t>
            </a:r>
            <a:r>
              <a:rPr lang="ru-RU" sz="2000" dirty="0"/>
              <a:t>, 2023. — 335 с. — (Профессиональное образование). — ISBN 978-5-534-05780-5. — URL : </a:t>
            </a:r>
            <a:r>
              <a:rPr lang="ru-RU" sz="2000" u="sng" dirty="0">
                <a:hlinkClick r:id="rId7"/>
              </a:rPr>
              <a:t>https://urait.ru/bcode/515206</a:t>
            </a:r>
            <a:endParaRPr lang="ru-RU" sz="2000" dirty="0"/>
          </a:p>
          <a:p>
            <a:pPr marL="0" indent="542925">
              <a:buFont typeface="+mj-lt"/>
              <a:buAutoNum type="arabicPeriod"/>
            </a:pPr>
            <a:r>
              <a:rPr lang="ru-RU" sz="2000" dirty="0"/>
              <a:t>Чернышев, С. А. Основы программирования на Python : учебное пособие для среднего профессионального образования / С. А. Чернышев. — Москва : Издательство </a:t>
            </a:r>
            <a:r>
              <a:rPr lang="ru-RU" sz="2000" dirty="0" err="1"/>
              <a:t>Юрайт</a:t>
            </a:r>
            <a:r>
              <a:rPr lang="ru-RU" sz="2000" dirty="0"/>
              <a:t>, 2023. — 286 с. — (Профессиональное образование). — ISBN 978-5-534-15160-2. — URL : </a:t>
            </a:r>
            <a:r>
              <a:rPr lang="ru-RU" sz="2000" u="sng" dirty="0">
                <a:hlinkClick r:id="rId6"/>
              </a:rPr>
              <a:t>https://urait.ru/bcode/519953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42336358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презентация_шаблончик A4 (1)" id="{CECEB147-F7F0-4995-89D0-2FD57D90FCEB}" vid="{306AE4ED-CFFA-434E-A652-8353525159A5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презентация_шаблончик A4 (1)</Template>
  <TotalTime>2950</TotalTime>
  <Words>2249</Words>
  <Application>Microsoft Office PowerPoint</Application>
  <PresentationFormat>Произвольный</PresentationFormat>
  <Paragraphs>314</Paragraphs>
  <Slides>38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38</vt:i4>
      </vt:variant>
    </vt:vector>
  </HeadingPairs>
  <TitlesOfParts>
    <vt:vector size="46" baseType="lpstr">
      <vt:lpstr>Arial</vt:lpstr>
      <vt:lpstr>Arial Black</vt:lpstr>
      <vt:lpstr>Calibri</vt:lpstr>
      <vt:lpstr>Calibri Light</vt:lpstr>
      <vt:lpstr>Courier New</vt:lpstr>
      <vt:lpstr>Times New Roman</vt:lpstr>
      <vt:lpstr>Verdana</vt:lpstr>
      <vt:lpstr>Тема Office</vt:lpstr>
      <vt:lpstr>ОТЧЕТ  о прохождении учебной практики   по профессиональному модулю ПМ.03 Проектирование и разработка информационных систем  в период с «01» июня 2023 г. по «14» июня 2023 г.   Специальность 09.02.07 Информационные системы и программирование  </vt:lpstr>
      <vt:lpstr>Содержание</vt:lpstr>
      <vt:lpstr>Организационный этап</vt:lpstr>
      <vt:lpstr>Организационный этап</vt:lpstr>
      <vt:lpstr>Описание компании</vt:lpstr>
      <vt:lpstr>Описание компании</vt:lpstr>
      <vt:lpstr>Описание компании</vt:lpstr>
      <vt:lpstr>Функции подразделений компании</vt:lpstr>
      <vt:lpstr>Сбор информации об объекте практики и анализ содержания источников</vt:lpstr>
      <vt:lpstr>Сбор информации об объекте практики и анализ содержания источников</vt:lpstr>
      <vt:lpstr>Сбор информации об объекте практики и анализ содержания источников</vt:lpstr>
      <vt:lpstr>Сбор информации об объекте практики и анализ содержания источников</vt:lpstr>
      <vt:lpstr>Сбор информации об объекте практики и анализ содержания источников</vt:lpstr>
      <vt:lpstr>Сбор информации об объекте практики и анализ содержания источников</vt:lpstr>
      <vt:lpstr>Сбор информации об объекте практики и анализ содержания источников</vt:lpstr>
      <vt:lpstr>Экспериментально-практическая работа</vt:lpstr>
      <vt:lpstr>Экспериментально-практическая работа</vt:lpstr>
      <vt:lpstr>Экспериментально-практическая работа</vt:lpstr>
      <vt:lpstr>Экспериментально-практическая работа</vt:lpstr>
      <vt:lpstr>Экспериментально-практическая работа</vt:lpstr>
      <vt:lpstr>Экспериментально-практическая работа</vt:lpstr>
      <vt:lpstr>Экспериментально-практическая работа</vt:lpstr>
      <vt:lpstr>Экспериментально-практическая работа</vt:lpstr>
      <vt:lpstr>Экспериментально-практическая работа</vt:lpstr>
      <vt:lpstr>Экспериментально-практическая работа</vt:lpstr>
      <vt:lpstr>Экспериментально-практическая работа</vt:lpstr>
      <vt:lpstr>Экспериментально-практическая работа</vt:lpstr>
      <vt:lpstr>Экспериментально-практическая работа</vt:lpstr>
      <vt:lpstr>Экспериментально-практическая работа</vt:lpstr>
      <vt:lpstr>Экспериментально-практическая работа</vt:lpstr>
      <vt:lpstr>Экспериментально-практическая работа</vt:lpstr>
      <vt:lpstr>Экспериментально-практическая работа</vt:lpstr>
      <vt:lpstr>Экспериментально-практическая работа</vt:lpstr>
      <vt:lpstr>Обработка и анализ полученной информации об объекте практики</vt:lpstr>
      <vt:lpstr>Обработка и анализ полученной информации об объекте практики</vt:lpstr>
      <vt:lpstr>Таблица рисков</vt:lpstr>
      <vt:lpstr>Выводы</vt:lpstr>
      <vt:lpstr>Список используемой литературы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Катя</dc:creator>
  <cp:lastModifiedBy>Михаил Плевако</cp:lastModifiedBy>
  <cp:revision>244</cp:revision>
  <cp:lastPrinted>2019-08-06T13:15:09Z</cp:lastPrinted>
  <dcterms:created xsi:type="dcterms:W3CDTF">2020-03-27T22:15:06Z</dcterms:created>
  <dcterms:modified xsi:type="dcterms:W3CDTF">2023-06-25T16:33:14Z</dcterms:modified>
</cp:coreProperties>
</file>