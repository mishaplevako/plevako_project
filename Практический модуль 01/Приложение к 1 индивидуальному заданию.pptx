
<file path=[Content_Types].xml><?xml version="1.0" encoding="utf-8"?>
<Types xmlns="http://schemas.openxmlformats.org/package/2006/content-types">
  <Default Extension="drawio" ContentType="image/png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36"/>
  </p:notesMasterIdLst>
  <p:handoutMasterIdLst>
    <p:handoutMasterId r:id="rId37"/>
  </p:handoutMasterIdLst>
  <p:sldIdLst>
    <p:sldId id="405" r:id="rId2"/>
    <p:sldId id="711" r:id="rId3"/>
    <p:sldId id="648" r:id="rId4"/>
    <p:sldId id="649" r:id="rId5"/>
    <p:sldId id="653" r:id="rId6"/>
    <p:sldId id="712" r:id="rId7"/>
    <p:sldId id="655" r:id="rId8"/>
    <p:sldId id="657" r:id="rId9"/>
    <p:sldId id="656" r:id="rId10"/>
    <p:sldId id="658" r:id="rId11"/>
    <p:sldId id="660" r:id="rId12"/>
    <p:sldId id="662" r:id="rId13"/>
    <p:sldId id="685" r:id="rId14"/>
    <p:sldId id="686" r:id="rId15"/>
    <p:sldId id="687" r:id="rId16"/>
    <p:sldId id="688" r:id="rId17"/>
    <p:sldId id="716" r:id="rId18"/>
    <p:sldId id="689" r:id="rId19"/>
    <p:sldId id="663" r:id="rId20"/>
    <p:sldId id="697" r:id="rId21"/>
    <p:sldId id="698" r:id="rId22"/>
    <p:sldId id="714" r:id="rId23"/>
    <p:sldId id="699" r:id="rId24"/>
    <p:sldId id="715" r:id="rId25"/>
    <p:sldId id="700" r:id="rId26"/>
    <p:sldId id="701" r:id="rId27"/>
    <p:sldId id="702" r:id="rId28"/>
    <p:sldId id="705" r:id="rId29"/>
    <p:sldId id="707" r:id="rId30"/>
    <p:sldId id="708" r:id="rId31"/>
    <p:sldId id="709" r:id="rId32"/>
    <p:sldId id="710" r:id="rId33"/>
    <p:sldId id="665" r:id="rId34"/>
    <p:sldId id="679" r:id="rId35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B0000"/>
    <a:srgbClr val="EB1E00"/>
    <a:srgbClr val="E51F26"/>
    <a:srgbClr val="EB1E28"/>
    <a:srgbClr val="C81F3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08" autoAdjust="0"/>
  </p:normalViewPr>
  <p:slideViewPr>
    <p:cSldViewPr showGuides="1">
      <p:cViewPr varScale="1">
        <p:scale>
          <a:sx n="103" d="100"/>
          <a:sy n="103" d="100"/>
        </p:scale>
        <p:origin x="1392" y="114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11.06.2023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11.06.2023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2F706F-AFAA-4FA6-90FD-A6042EEAC4E3}"/>
              </a:ext>
            </a:extLst>
          </p:cNvPr>
          <p:cNvSpPr/>
          <p:nvPr userDrawn="1"/>
        </p:nvSpPr>
        <p:spPr>
          <a:xfrm>
            <a:off x="0" y="1404367"/>
            <a:ext cx="10693400" cy="4968551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49F62CD-3B5C-4018-AC46-2285EBFB8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67" y="679218"/>
            <a:ext cx="3127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512A90-7C52-4CB6-A385-FCF56ED6BF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_DEN\_ПРОЕКТЫ\_МФПА\Университет СИНЕРГИЯ\презентации\Рисунок1.jpg">
            <a:extLst>
              <a:ext uri="{FF2B5EF4-FFF2-40B4-BE49-F238E27FC236}">
                <a16:creationId xmlns:a16="http://schemas.microsoft.com/office/drawing/2014/main" id="{04EA8244-8613-47EF-ADFF-CECBFAAFD3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898" cy="7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D85A3D9-8E6C-42BC-A646-80F2D6AECC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7" y="1001906"/>
            <a:ext cx="2610490" cy="46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92507453-DF3E-4843-9C37-520D26E5A1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766" y="2196455"/>
            <a:ext cx="9599868" cy="3807156"/>
          </a:xfrm>
        </p:spPr>
        <p:txBody>
          <a:bodyPr anchor="ctr">
            <a:normAutofit/>
          </a:bodyPr>
          <a:lstStyle>
            <a:lvl1pPr marL="0" algn="l" defTabSz="10430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5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418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11.06.2023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11.06.2023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11.06.2023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11.06.2023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11.06.2023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  <p:sldLayoutId id="2147483719" r:id="rId3"/>
    <p:sldLayoutId id="2147483739" r:id="rId4"/>
    <p:sldLayoutId id="2147483736" r:id="rId5"/>
    <p:sldLayoutId id="2147483738" r:id="rId6"/>
    <p:sldLayoutId id="2147483737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drawio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support.microsoft.com/ru-ru/office/&#1089;&#1086;&#1079;&#1076;&#1072;&#1085;&#1080;&#1077;-&#1073;&#1072;&#1079;&#1099;-&#1076;&#1072;&#1085;&#1085;&#1099;&#1093;-32a1ea1c-a155-43d6-aa00-f08cd1a8f01e" TargetMode="External"/><Relationship Id="rId3" Type="http://schemas.openxmlformats.org/officeDocument/2006/relationships/hyperlink" Target="https://biblioclub.ru/index.php?page=book&amp;id=612465" TargetMode="External"/><Relationship Id="rId7" Type="http://schemas.openxmlformats.org/officeDocument/2006/relationships/hyperlink" Target="https://support.microsoft.com/ru-ru/office/&#1089;&#1086;&#1079;&#1076;&#1072;&#1085;&#1080;&#1077;-&#1080;&#1083;&#1080;-&#1091;&#1076;&#1072;&#1083;&#1077;&#1085;&#1080;&#1077;-&#1084;&#1085;&#1086;&#1075;&#1086;&#1079;&#1085;&#1072;&#1095;&#1085;&#1086;&#1075;&#1086;-&#1087;&#1086;&#1083;&#1103;-7c2fd644-3771-48e4-b6dc-6de9bebbec31" TargetMode="External"/><Relationship Id="rId2" Type="http://schemas.openxmlformats.org/officeDocument/2006/relationships/hyperlink" Target="https://biblioclub.ru/index.php?page=book&amp;id=463339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ders2023.innoagency.ru/" TargetMode="External"/><Relationship Id="rId5" Type="http://schemas.openxmlformats.org/officeDocument/2006/relationships/hyperlink" Target="https://urait.ru/bcode/514591" TargetMode="External"/><Relationship Id="rId4" Type="http://schemas.openxmlformats.org/officeDocument/2006/relationships/hyperlink" Target="https://biblioclub.ru/index.php?page=book&amp;id=5984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156" y="2844527"/>
            <a:ext cx="9679452" cy="3121418"/>
          </a:xfrm>
        </p:spPr>
        <p:txBody>
          <a:bodyPr>
            <a:normAutofit/>
          </a:bodyPr>
          <a:lstStyle/>
          <a:p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учебной практики </a:t>
            </a:r>
            <a:br>
              <a:rPr lang="ru-RU" sz="2100" dirty="0"/>
            </a:br>
            <a:br>
              <a:rPr lang="ru-RU" sz="2100" dirty="0"/>
            </a:br>
            <a:r>
              <a:rPr lang="ru-RU" sz="2000" dirty="0"/>
              <a:t>по профессиональному модулю </a:t>
            </a:r>
            <a:br>
              <a:rPr lang="ru-RU" sz="2000" dirty="0"/>
            </a:br>
            <a:r>
              <a:rPr lang="ru-RU" sz="2000" dirty="0"/>
              <a:t>ПМ.0</a:t>
            </a:r>
            <a:r>
              <a:rPr lang="en-US" sz="2000" dirty="0"/>
              <a:t>1</a:t>
            </a:r>
            <a:r>
              <a:rPr lang="ru-RU" sz="2000" dirty="0"/>
              <a:t> Осуществление интеграции</a:t>
            </a:r>
            <a:r>
              <a:rPr lang="en-US" sz="2000" dirty="0"/>
              <a:t> </a:t>
            </a:r>
            <a:r>
              <a:rPr lang="ru-RU" sz="2000" dirty="0"/>
              <a:t>программных модулей</a:t>
            </a:r>
            <a:br>
              <a:rPr lang="ru-RU" sz="2000" dirty="0"/>
            </a:br>
            <a:br>
              <a:rPr lang="ru-RU" sz="2000" dirty="0"/>
            </a:br>
            <a:r>
              <a:rPr lang="ru-RU" sz="2000" dirty="0"/>
              <a:t>в период с «18» мая 2023 г. по «31» мая 2023 г.</a:t>
            </a:r>
            <a:br>
              <a:rPr lang="en-US" sz="1800" dirty="0"/>
            </a:br>
            <a:br>
              <a:rPr lang="ru-RU" sz="1800" dirty="0"/>
            </a:br>
            <a:r>
              <a:rPr lang="ru-RU" sz="2000" dirty="0"/>
              <a:t>Специальность 09.02.07 Информационные системы и программирование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810196" y="6279378"/>
            <a:ext cx="8712968" cy="1173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ФИО обучающегося</a:t>
            </a:r>
            <a:r>
              <a:rPr kumimoji="0" lang="ru-RU" alt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: </a:t>
            </a:r>
            <a:r>
              <a:rPr lang="ru-RU" altLang="ru-RU" sz="2000" dirty="0">
                <a:solidFill>
                  <a:srgbClr val="FF0000"/>
                </a:solidFill>
              </a:rPr>
              <a:t>__________</a:t>
            </a:r>
            <a:r>
              <a:rPr lang="ru-RU" altLang="ru-RU" sz="2000" u="sng" dirty="0">
                <a:solidFill>
                  <a:srgbClr val="FF0000"/>
                </a:solidFill>
              </a:rPr>
              <a:t>Плевако Михаил Павлович</a:t>
            </a:r>
            <a:r>
              <a:rPr lang="ru-RU" altLang="ru-RU" sz="2000" dirty="0">
                <a:solidFill>
                  <a:srgbClr val="FF0000"/>
                </a:solidFill>
              </a:rPr>
              <a:t>___________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000" dirty="0">
                <a:solidFill>
                  <a:srgbClr val="FF0000"/>
                </a:solidFill>
              </a:rPr>
              <a:t>Группа: ___________</a:t>
            </a:r>
            <a:r>
              <a:rPr lang="ru-RU" altLang="ru-RU" sz="2000" u="sng" dirty="0">
                <a:solidFill>
                  <a:srgbClr val="FF0000"/>
                </a:solidFill>
              </a:rPr>
              <a:t>ДКИП-3010</a:t>
            </a:r>
            <a:r>
              <a:rPr lang="ru-RU" altLang="ru-RU" sz="2000" dirty="0">
                <a:solidFill>
                  <a:srgbClr val="FF0000"/>
                </a:solidFill>
              </a:rPr>
              <a:t>_______________</a:t>
            </a:r>
          </a:p>
          <a:p>
            <a:pPr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ФИО Руководител</a:t>
            </a:r>
            <a:r>
              <a:rPr kumimoji="0" lang="ru-RU" altLang="ru-RU" sz="2000" b="0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я:  </a:t>
            </a:r>
            <a:r>
              <a:rPr lang="ru-RU" altLang="ru-RU" sz="2000" dirty="0">
                <a:solidFill>
                  <a:srgbClr val="FF0000"/>
                </a:solidFill>
              </a:rPr>
              <a:t>_____</a:t>
            </a:r>
            <a:r>
              <a:rPr lang="ru-RU" altLang="ru-RU" sz="2000" u="sng" dirty="0">
                <a:solidFill>
                  <a:srgbClr val="FF0000"/>
                </a:solidFill>
              </a:rPr>
              <a:t>Пышнограева Анастасия Анатольевна</a:t>
            </a:r>
            <a:r>
              <a:rPr lang="ru-RU" altLang="ru-RU" sz="2000" dirty="0">
                <a:solidFill>
                  <a:srgbClr val="FF0000"/>
                </a:solidFill>
              </a:rPr>
              <a:t>______</a:t>
            </a: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180" y="1620391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НЕГОСУДАРСТВЕННОЕ ОБРАЗОВАТЕЛЬНОЕ ЧАСТНОЕ УЧРЕЖДЕНИЕ ВЫСШЕГО ОБРАЗОВАНИЯ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«МОСКОВСКИЙ ФИНАНСОВО-ПРОМЫШЛЕННЫЙ УНИВЕРСИТЕТ «СИНЕРГИЯ»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Колледж «Синергия»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Кафедра цифровой экономики</a:t>
            </a:r>
          </a:p>
        </p:txBody>
      </p:sp>
    </p:spTree>
    <p:extLst>
      <p:ext uri="{BB962C8B-B14F-4D97-AF65-F5344CB8AC3E}">
        <p14:creationId xmlns:p14="http://schemas.microsoft.com/office/powerpoint/2010/main" val="1357806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5" name="TextBox 2"/>
          <p:cNvSpPr txBox="1"/>
          <p:nvPr/>
        </p:nvSpPr>
        <p:spPr>
          <a:xfrm>
            <a:off x="532672" y="1908423"/>
            <a:ext cx="9687193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1. </a:t>
            </a:r>
            <a:r>
              <a:rPr lang="ru-RU" sz="2200" dirty="0"/>
              <a:t>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2. </a:t>
            </a:r>
            <a:r>
              <a:rPr lang="ru-RU" sz="2200" dirty="0"/>
              <a:t>Изучение организационной структуры и технического оснащения исследуемого предприятия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3. </a:t>
            </a:r>
            <a:r>
              <a:rPr lang="ru-RU" sz="2200" dirty="0"/>
              <a:t>Сбор информации об объекте практики и анализ содержания источников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4.</a:t>
            </a:r>
            <a:r>
              <a:rPr lang="ru-RU" sz="2200" dirty="0">
                <a:solidFill>
                  <a:srgbClr val="FF0000"/>
                </a:solidFill>
              </a:rPr>
              <a:t> </a:t>
            </a:r>
            <a:r>
              <a:rPr lang="ru-RU" sz="2200" dirty="0"/>
              <a:t>Экспериментально-практическая работа. Приобретение необходимых знаний, умений и первоначального практического опыта работы по специальности в рамках освоения вида деятельности ВД 2. Осуществление интеграции</a:t>
            </a:r>
            <a:r>
              <a:rPr lang="en-US" sz="2200" dirty="0"/>
              <a:t> </a:t>
            </a:r>
            <a:r>
              <a:rPr lang="ru-RU" sz="2200" dirty="0"/>
              <a:t>программных модулей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ru-RU" sz="2500" dirty="0">
                <a:solidFill>
                  <a:srgbClr val="FF0000"/>
                </a:solidFill>
              </a:rPr>
              <a:t>5.</a:t>
            </a:r>
            <a:r>
              <a:rPr lang="ru-RU" sz="2200" dirty="0">
                <a:solidFill>
                  <a:srgbClr val="FF0000"/>
                </a:solidFill>
              </a:rPr>
              <a:t> </a:t>
            </a:r>
            <a:r>
              <a:rPr lang="ru-RU" sz="2200" dirty="0"/>
              <a:t>Обработка и систематизация полученного фактического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3320489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337599-D6D8-4F6D-8299-897E879AF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313689"/>
            <a:ext cx="9687193" cy="498598"/>
          </a:xfrm>
        </p:spPr>
        <p:txBody>
          <a:bodyPr/>
          <a:lstStyle/>
          <a:p>
            <a:r>
              <a:rPr lang="ru-RU" sz="3600" dirty="0"/>
              <a:t>Организационный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4" y="1908423"/>
            <a:ext cx="9824904" cy="4392488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Я, Плевако Михаил Павлович, проходил учебную практику в лабораторных условиях на базе Университета «Синергия».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700" dirty="0"/>
              <a:t>При выполнении индивидуального задания по практике решал задачу «Агрегатор площадок и услуг креативных индустрий Москвы»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700" dirty="0"/>
              <a:t>Перед началом практики:</a:t>
            </a:r>
          </a:p>
          <a:p>
            <a:pPr marL="0" indent="0">
              <a:lnSpc>
                <a:spcPct val="100000"/>
              </a:lnSpc>
              <a:buNone/>
              <a:tabLst>
                <a:tab pos="271463" algn="l"/>
              </a:tabLst>
            </a:pPr>
            <a:r>
              <a:rPr lang="ru-RU" sz="1700" dirty="0"/>
              <a:t>•	Принял участие в организационном собрании по практике.</a:t>
            </a:r>
          </a:p>
          <a:p>
            <a:pPr marL="0" indent="0">
              <a:lnSpc>
                <a:spcPct val="100000"/>
              </a:lnSpc>
              <a:buNone/>
              <a:tabLst>
                <a:tab pos="271463" algn="l"/>
              </a:tabLst>
            </a:pPr>
            <a:r>
              <a:rPr lang="ru-RU" sz="1700" dirty="0"/>
              <a:t>•	Ознакомился с комплектом шаблонов отчетной документации по практике.</a:t>
            </a:r>
          </a:p>
          <a:p>
            <a:pPr marL="0" indent="0" algn="just">
              <a:lnSpc>
                <a:spcPct val="100000"/>
              </a:lnSpc>
              <a:buNone/>
              <a:tabLst>
                <a:tab pos="271463" algn="l"/>
              </a:tabLst>
            </a:pPr>
            <a:r>
              <a:rPr lang="ru-RU" sz="1700" dirty="0"/>
              <a:t>•	Уточнил контакты руководителя практики от Образовательной 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Требования к внешнему виду: Деловой стиль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График работы: Понедельник – воскресение 8:00-22:00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Круг обязанностей: </a:t>
            </a:r>
            <a:r>
              <a:rPr lang="en-US" sz="1700" dirty="0"/>
              <a:t>Data scientist – </a:t>
            </a:r>
            <a:r>
              <a:rPr lang="ru-RU" sz="1700" dirty="0"/>
              <a:t>это специалист, который создаёт инструменты для решения задач бизнеса. Для этого он использует навыки анализа данных и построения моделей машинного обучения. </a:t>
            </a:r>
            <a:r>
              <a:rPr lang="en-US" sz="1700" dirty="0"/>
              <a:t>Data scientist </a:t>
            </a:r>
            <a:r>
              <a:rPr lang="ru-RU" sz="1700" dirty="0"/>
              <a:t>работает на стыке трёх областей знания: статистики, машинного обучения </a:t>
            </a:r>
            <a:r>
              <a:rPr lang="ru-RU" sz="1700"/>
              <a:t>и программирования.</a:t>
            </a:r>
            <a:endParaRPr lang="ru-RU" sz="1700" dirty="0"/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ru-RU" sz="1700" dirty="0"/>
              <a:t>Доступ к данным: Полный доступ к созданной базе данных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3" y="779740"/>
            <a:ext cx="9824904" cy="709522"/>
          </a:xfrm>
        </p:spPr>
        <p:txBody>
          <a:bodyPr>
            <a:normAutofit lnSpcReduction="10000"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Правила внутреннего распорядка, правила и нормы охраны труда, </a:t>
            </a:r>
          </a:p>
          <a:p>
            <a:r>
              <a:rPr lang="ru-RU" b="0" dirty="0">
                <a:solidFill>
                  <a:srgbClr val="E60000"/>
                </a:solidFill>
              </a:rPr>
              <a:t>техники 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985638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21" y="375492"/>
            <a:ext cx="9687193" cy="498598"/>
          </a:xfrm>
        </p:spPr>
        <p:txBody>
          <a:bodyPr/>
          <a:lstStyle/>
          <a:p>
            <a:r>
              <a:rPr lang="ru-RU" sz="3600" dirty="0"/>
              <a:t>Организационный этап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673" y="1863997"/>
            <a:ext cx="9358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ru-RU" sz="1800" dirty="0"/>
              <a:t>Были изучены инструкции по технике безопасности и охране труда, инструкции о мерах пожарной безопасности, схемы аварийных проходов и выходов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3106" y="6104675"/>
            <a:ext cx="9358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8163">
              <a:spcAft>
                <a:spcPts val="1200"/>
              </a:spcAft>
            </a:pPr>
            <a:r>
              <a:rPr lang="ru-RU" sz="1800" b="1" i="1" dirty="0">
                <a:solidFill>
                  <a:schemeClr val="accent6">
                    <a:lumMod val="75000"/>
                  </a:schemeClr>
                </a:solidFill>
              </a:rPr>
              <a:t>Рисунок 1. Схема аварийных проходов и выходов (схема эвакуации)</a:t>
            </a:r>
          </a:p>
        </p:txBody>
      </p:sp>
      <p:sp>
        <p:nvSpPr>
          <p:cNvPr id="7" name="Текст 3">
            <a:extLst>
              <a:ext uri="{FF2B5EF4-FFF2-40B4-BE49-F238E27FC236}">
                <a16:creationId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99410" y="600805"/>
            <a:ext cx="9824904" cy="709522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Схемы аварийных проходов и выходов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9CBE153-F239-AC4E-39F1-0C6DABC67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594" y="2556833"/>
            <a:ext cx="4824536" cy="3501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478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C8122-DA06-4AD8-9E42-E20F0B83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1001588"/>
            <a:ext cx="9687193" cy="86761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Инструкции по охране труда </a:t>
            </a:r>
            <a:br>
              <a:rPr lang="ru-RU" sz="1800" b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ru-RU" sz="1800" b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ru-RU" sz="1800" b="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146C6-7E3E-4531-8710-01150C08B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1836415"/>
            <a:ext cx="10298437" cy="4571644"/>
          </a:xfrm>
        </p:spPr>
        <p:txBody>
          <a:bodyPr>
            <a:noAutofit/>
          </a:bodyPr>
          <a:lstStyle/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1.1. К работе на персональном компьютере допускаются лица, прошедшие обучение </a:t>
            </a:r>
            <a:r>
              <a:rPr lang="ru-RU" sz="1000" u="none" strike="noStrike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безопасным методам</a:t>
            </a:r>
            <a:r>
              <a:rPr lang="ru-RU" sz="1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труда, вводный инструктаж, первичный инструктаж на рабочем месте.</a:t>
            </a:r>
            <a:endParaRPr lang="en-US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1.2. При эксплуатации персонального компьютера на работника могут оказывать действие следующие опасные и вредные производственные факторы:</a:t>
            </a:r>
            <a:endParaRPr lang="en-US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повышенный уровень электромагнитных излучений;</a:t>
            </a:r>
            <a:endParaRPr lang="en-US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повышенный уровень статического электричества;</a:t>
            </a:r>
            <a:endParaRPr lang="en-US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пониженная ионизация воздуха;</a:t>
            </a:r>
            <a:endParaRPr lang="en-US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статические физические перегрузки;</a:t>
            </a:r>
            <a:endParaRPr lang="en-US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перенапряжение зрительных анализаторов.</a:t>
            </a:r>
            <a:endParaRPr lang="en-US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1.3. Работник обязан:</a:t>
            </a:r>
            <a:endParaRPr lang="en-US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1.3.1. Выполнять только ту работу, которая определена его должностной инструкцией.</a:t>
            </a:r>
            <a:endParaRPr lang="en-US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1.3.2. Содержать в чистоте рабочее место.</a:t>
            </a:r>
            <a:endParaRPr lang="en-US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0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1.3.3. Соблюдать режим труда и отдыха в зависимости от продолжительности, вида и категории трудовой деятельности</a:t>
            </a:r>
            <a:r>
              <a:rPr lang="ru-RU" sz="1000" u="none" strike="noStrike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0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 txBox="1">
            <a:spLocks/>
          </p:cNvSpPr>
          <p:nvPr/>
        </p:nvSpPr>
        <p:spPr>
          <a:xfrm>
            <a:off x="412947" y="396255"/>
            <a:ext cx="9687193" cy="4985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7822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100" b="1" kern="120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sz="3600" dirty="0"/>
              <a:t>Организационный этап</a:t>
            </a:r>
          </a:p>
        </p:txBody>
      </p:sp>
    </p:spTree>
    <p:extLst>
      <p:ext uri="{BB962C8B-B14F-4D97-AF65-F5344CB8AC3E}">
        <p14:creationId xmlns:p14="http://schemas.microsoft.com/office/powerpoint/2010/main" val="2981779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3C8122-DA06-4AD8-9E42-E20F0B83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1001588"/>
            <a:ext cx="9687193" cy="867610"/>
          </a:xfrm>
        </p:spPr>
        <p:txBody>
          <a:bodyPr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800" b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Инструкции по охране труда, технике безопасности и пожароопасности</a:t>
            </a:r>
            <a:br>
              <a:rPr lang="ru-RU" sz="1800" b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br>
              <a:rPr lang="ru-RU" sz="1800" b="0" dirty="0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endParaRPr lang="ru-RU" sz="1800" b="0" dirty="0"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3146C6-7E3E-4531-8710-01150C08B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1836415"/>
            <a:ext cx="9824904" cy="4571644"/>
          </a:xfrm>
        </p:spPr>
        <p:txBody>
          <a:bodyPr>
            <a:normAutofit fontScale="85000" lnSpcReduction="10000"/>
          </a:bodyPr>
          <a:lstStyle/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1.1. Рабочие места с компьютерами должны размещаться таким образом, чтобы расстояние от экрана одного видеомонитора до тыла другого было не менее 2,0 м, а расстояние между боковыми поверхностями видеомониторов - не менее 1,2 м.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1.2. Рабочая мебель для пользователей компьютерной техникой должна отвечать следующим требованиям: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высота рабочей поверхности стола должна регулироваться в пределах 680 - 800 мм; при отсутствии такой возможности высота рабочей поверхности стола должна составлять 725 мм;</a:t>
            </a:r>
          </a:p>
          <a:p>
            <a:pPr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Техника безопасности и пожароопасности: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1. Во всех случаях обрыва проводов питания, неисправности заземления и других повреждений, появления гари, немедленно отключить питание и сообщить об аварийной ситуации руководителю.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2. Не приступать к работе до устранения неисправностей.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r>
              <a:rPr lang="ru-RU" sz="18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3. При получении травм или внезапном заболевании немедленно известить своего руководителя, организовать первую доврачебную помощь или вызвать скорую медицинскую помощь.</a:t>
            </a:r>
            <a:endParaRPr lang="en-US" sz="1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342900" algn="just">
              <a:lnSpc>
                <a:spcPct val="115000"/>
              </a:lnSpc>
              <a:spcAft>
                <a:spcPts val="10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 txBox="1">
            <a:spLocks/>
          </p:cNvSpPr>
          <p:nvPr/>
        </p:nvSpPr>
        <p:spPr>
          <a:xfrm>
            <a:off x="412947" y="396255"/>
            <a:ext cx="9687193" cy="4985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7822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100" b="1" kern="120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sz="3600" dirty="0"/>
              <a:t>Организационный этап</a:t>
            </a:r>
          </a:p>
        </p:txBody>
      </p:sp>
    </p:spTree>
    <p:extLst>
      <p:ext uri="{BB962C8B-B14F-4D97-AF65-F5344CB8AC3E}">
        <p14:creationId xmlns:p14="http://schemas.microsoft.com/office/powerpoint/2010/main" val="3037095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824322-516B-4B54-A928-6AC1D0913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164" y="108223"/>
            <a:ext cx="9687193" cy="498598"/>
          </a:xfrm>
        </p:spPr>
        <p:txBody>
          <a:bodyPr/>
          <a:lstStyle/>
          <a:p>
            <a:r>
              <a:rPr lang="ru-RU" sz="3600" dirty="0"/>
              <a:t>Подготовительный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873964-3D0A-4311-BE42-D32A32554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24" y="1980431"/>
            <a:ext cx="9824904" cy="4320480"/>
          </a:xfrm>
        </p:spPr>
        <p:txBody>
          <a:bodyPr>
            <a:normAutofit fontScale="25000" lnSpcReduction="20000"/>
          </a:bodyPr>
          <a:lstStyle/>
          <a:p>
            <a:pPr marL="230187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нашем исследуемом подразделении мы приняли ряд мер, чтобы обеспечить надежную защиту информации и контролировать безопасность ее обработки: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 первую очередь, мы определили круг лиц, ответственных за информационную безопасность, и создали соответствующие нормативные документы, которые описывают действия нашего персонала, направленные на предотвращение IT-рисков.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endParaRPr lang="ru-RU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Кроме того, мы внедрили систему подтверждения авторизации с помощью кода, который приходит на телефон, указанный при регистрации. Это гарантирует, что только уполномоченные пользователи имеют доступ к нашей информации.</a:t>
            </a: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endParaRPr lang="ru-RU" sz="7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01650" algn="just">
              <a:lnSpc>
                <a:spcPct val="120000"/>
              </a:lnSpc>
              <a:spcBef>
                <a:spcPts val="0"/>
              </a:spcBef>
            </a:pPr>
            <a:r>
              <a:rPr lang="ru-RU" sz="7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Мы также провели классификацию данных по степени конфиденциальности и установили разграничение прав доступа к ним. Это позволяет определить, кто может работать с определенными данными в соответствии с уровнем их конфиденциальности. Кроме того, мы предусмотрели резервные мощности для работы в критических ситуациях, что гарантирует сохранность и доступность нашей информации в любых обстоятельствах.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606821"/>
            <a:ext cx="9824904" cy="1127003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7200" b="0" dirty="0">
                <a:solidFill>
                  <a:srgbClr val="E60000"/>
                </a:solidFill>
              </a:rPr>
              <a:t>Структура и техническое оснащение исследуемого предприятия/ подразделения</a:t>
            </a: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7200" b="0" dirty="0">
                <a:solidFill>
                  <a:srgbClr val="E60000"/>
                </a:solidFill>
              </a:rPr>
              <a:t>Организация системы информационной безопасности</a:t>
            </a:r>
          </a:p>
          <a:p>
            <a:pPr>
              <a:spcBef>
                <a:spcPts val="0"/>
              </a:spcBef>
            </a:pPr>
            <a:r>
              <a:rPr lang="ru-RU" sz="7200" b="0" dirty="0">
                <a:solidFill>
                  <a:srgbClr val="E60000"/>
                </a:solidFill>
              </a:rPr>
              <a:t>Система контроля и управления доступом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622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D28A6-1204-45A8-9AAF-9482C2A3C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704" y="257328"/>
            <a:ext cx="9687193" cy="498598"/>
          </a:xfrm>
        </p:spPr>
        <p:txBody>
          <a:bodyPr/>
          <a:lstStyle/>
          <a:p>
            <a:r>
              <a:rPr lang="ru-RU" sz="3600" dirty="0"/>
              <a:t>Подготовительный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748BCE-F075-486E-8C36-8D79E794C79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22993" y="784036"/>
            <a:ext cx="9824904" cy="421490"/>
          </a:xfrm>
        </p:spPr>
        <p:txBody>
          <a:bodyPr>
            <a:normAutofit/>
          </a:bodyPr>
          <a:lstStyle/>
          <a:p>
            <a:pPr>
              <a:lnSpc>
                <a:spcPct val="8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b="0" dirty="0">
                <a:solidFill>
                  <a:srgbClr val="E60000"/>
                </a:solidFill>
              </a:rPr>
              <a:t>Организация доступа персонала к содержанию конфиденциальной информации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FEBC6B-8BBE-4AFF-A40B-98198DCEF7E3}"/>
              </a:ext>
            </a:extLst>
          </p:cNvPr>
          <p:cNvSpPr txBox="1"/>
          <p:nvPr/>
        </p:nvSpPr>
        <p:spPr>
          <a:xfrm>
            <a:off x="2455125" y="6660951"/>
            <a:ext cx="576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l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2. Форма авторизации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пользователей</a:t>
            </a: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2504F31-21F5-30F5-4020-7896CAE31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978" y="1908423"/>
            <a:ext cx="4141443" cy="4619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911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F35FC0-FA84-44DD-8C57-C9ED97267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433172"/>
            <a:ext cx="9687193" cy="498598"/>
          </a:xfrm>
        </p:spPr>
        <p:txBody>
          <a:bodyPr/>
          <a:lstStyle/>
          <a:p>
            <a:r>
              <a:rPr lang="ru-RU" sz="3600" dirty="0"/>
              <a:t>Подготовительный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5253968-7AF1-4C69-823A-99D272B16EE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6107" y="985194"/>
            <a:ext cx="9824904" cy="42149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Права пользователей </a:t>
            </a:r>
            <a:r>
              <a:rPr lang="en-US" b="0" dirty="0">
                <a:solidFill>
                  <a:srgbClr val="E60000"/>
                </a:solidFill>
              </a:rPr>
              <a:t>wed-</a:t>
            </a:r>
            <a:r>
              <a:rPr lang="ru-RU" b="0" dirty="0">
                <a:solidFill>
                  <a:srgbClr val="E60000"/>
                </a:solidFill>
              </a:rPr>
              <a:t>сайта по бронированию креативных мест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582841-5FE4-40C9-8D37-A6B293ECFF28}"/>
              </a:ext>
            </a:extLst>
          </p:cNvPr>
          <p:cNvSpPr txBox="1"/>
          <p:nvPr/>
        </p:nvSpPr>
        <p:spPr>
          <a:xfrm>
            <a:off x="1458138" y="6576069"/>
            <a:ext cx="7560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ct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3. Пример разграничения прав доступа на сайте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013602-A927-1EA8-55E0-073BD3AB9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372" y="1908423"/>
            <a:ext cx="5358084" cy="446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7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D13D5D-6071-4D13-981C-058D6B149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961" y="216170"/>
            <a:ext cx="9687193" cy="1329595"/>
          </a:xfrm>
        </p:spPr>
        <p:txBody>
          <a:bodyPr/>
          <a:lstStyle/>
          <a:p>
            <a:r>
              <a:rPr lang="ru-RU" sz="3600" dirty="0"/>
              <a:t>Исследовательский этап.</a:t>
            </a:r>
            <a:br>
              <a:rPr lang="ru-RU" sz="3600" dirty="0"/>
            </a:br>
            <a:r>
              <a:rPr lang="ru-RU" sz="3000" dirty="0"/>
              <a:t>Сбор информации об объекте практики </a:t>
            </a:r>
            <a:br>
              <a:rPr lang="ru-RU" sz="3000" dirty="0"/>
            </a:br>
            <a:r>
              <a:rPr lang="ru-RU" sz="3000" dirty="0"/>
              <a:t>и анализ содержания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1DC268-3756-4D5C-8BFE-1C6ED6F2CC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248" y="2628503"/>
            <a:ext cx="9824904" cy="4014015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ОБЩЕСТВО С ОГРАНИЧЕННОЙ ОТВЕТСТВЕННОСТЬЮ “</a:t>
            </a:r>
            <a:r>
              <a:rPr lang="en-US" sz="2000" dirty="0"/>
              <a:t>BCP – Booking Creative Places</a:t>
            </a:r>
            <a:r>
              <a:rPr lang="ru-RU" sz="2000" dirty="0"/>
              <a:t>"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Адрес: г. Москва, Хлебозаводский проезд, д.7, стр.10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dirty="0"/>
              <a:t>Уставный капитал: 0 рублей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  <a:p>
            <a:pPr marL="0" indent="0">
              <a:lnSpc>
                <a:spcPct val="100000"/>
              </a:lnSpc>
              <a:buNone/>
            </a:pPr>
            <a:r>
              <a:rPr lang="ru-RU" sz="2000" u="sng" dirty="0"/>
              <a:t>Основной вид деятельности:  </a:t>
            </a:r>
            <a:r>
              <a:rPr lang="ru-RU" sz="2000" dirty="0"/>
              <a:t>Агрегатор площадок и услуг креативных индустрий Москвы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000" u="sng" dirty="0"/>
              <a:t>Дополнительные виды деятельности: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Бронирование креативных мест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Аренда креативных мест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Возможность выставлять свои креативные места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Data scientist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Создание </a:t>
            </a:r>
            <a:r>
              <a:rPr lang="en-US" sz="2000" dirty="0"/>
              <a:t>UML </a:t>
            </a:r>
            <a:r>
              <a:rPr lang="ru-RU" sz="2000" dirty="0"/>
              <a:t>диаграмм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Backend-</a:t>
            </a:r>
            <a:r>
              <a:rPr lang="ru-RU" sz="2000" dirty="0"/>
              <a:t>разработка</a:t>
            </a:r>
          </a:p>
          <a:p>
            <a:pPr>
              <a:lnSpc>
                <a:spcPct val="100000"/>
              </a:lnSpc>
            </a:pPr>
            <a:r>
              <a:rPr lang="ru-RU" sz="2000" dirty="0"/>
              <a:t>Разработка </a:t>
            </a:r>
            <a:r>
              <a:rPr lang="en-US" sz="2000" dirty="0"/>
              <a:t>UX/UI </a:t>
            </a:r>
            <a:r>
              <a:rPr lang="ru-RU" sz="2000" dirty="0"/>
              <a:t>дизайна</a:t>
            </a:r>
          </a:p>
          <a:p>
            <a:pPr marL="0" indent="0">
              <a:lnSpc>
                <a:spcPct val="100000"/>
              </a:lnSpc>
              <a:buNone/>
            </a:pPr>
            <a:endParaRPr lang="ru-RU" sz="200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F4A8DA-7B1E-45B2-85EA-94287A25C60A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9250" y="1758948"/>
            <a:ext cx="9824904" cy="1157588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Характеристика предприятия и его деятельности</a:t>
            </a:r>
          </a:p>
          <a:p>
            <a:r>
              <a:rPr lang="ru-RU" b="0" dirty="0">
                <a:solidFill>
                  <a:srgbClr val="E60000"/>
                </a:solidFill>
              </a:rPr>
              <a:t>Организационно-правовая форма и характер собственности</a:t>
            </a:r>
          </a:p>
          <a:p>
            <a:endParaRPr lang="ru-RU" dirty="0"/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25F08897-D721-4686-A730-970641D7C695}"/>
              </a:ext>
            </a:extLst>
          </p:cNvPr>
          <p:cNvSpPr txBox="1">
            <a:spLocks/>
          </p:cNvSpPr>
          <p:nvPr/>
        </p:nvSpPr>
        <p:spPr>
          <a:xfrm>
            <a:off x="329250" y="3647243"/>
            <a:ext cx="9824904" cy="629637"/>
          </a:xfrm>
          <a:prstGeom prst="rect">
            <a:avLst/>
          </a:prstGeom>
        </p:spPr>
        <p:txBody>
          <a:bodyPr vert="horz" lIns="104306" tIns="52153" rIns="104306" bIns="52153" rtlCol="0" anchor="b">
            <a:normAutofit/>
          </a:bodyPr>
          <a:lstStyle>
            <a:lvl1pPr marL="87313" indent="0" algn="l" defTabSz="782292" rtl="0" eaLnBrk="1" latinLnBrk="0" hangingPunct="1">
              <a:lnSpc>
                <a:spcPct val="90000"/>
              </a:lnSpc>
              <a:spcBef>
                <a:spcPts val="856"/>
              </a:spcBef>
              <a:buFont typeface="Arial" panose="020B0604020202020204" pitchFamily="34" charset="0"/>
              <a:buNone/>
              <a:defRPr sz="1800" b="1" kern="1200">
                <a:solidFill>
                  <a:srgbClr val="FF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9114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7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8229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5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7343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64584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55730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46876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38022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29168" indent="0" algn="l" defTabSz="782292" rtl="0" eaLnBrk="1" latinLnBrk="0" hangingPunct="1">
              <a:lnSpc>
                <a:spcPct val="90000"/>
              </a:lnSpc>
              <a:spcBef>
                <a:spcPts val="428"/>
              </a:spcBef>
              <a:buFont typeface="Arial" panose="020B0604020202020204" pitchFamily="34" charset="0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b="0" dirty="0">
                <a:solidFill>
                  <a:srgbClr val="E60000"/>
                </a:solidFill>
              </a:rPr>
              <a:t>Направление деятельности (размер и отрасль)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0382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3" y="502904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03FDBB-CCEB-439F-A6A8-F6AB256D1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16" y="1908423"/>
            <a:ext cx="9824904" cy="464365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Наш сайт «</a:t>
            </a:r>
            <a:r>
              <a:rPr lang="en-US" sz="2400" dirty="0"/>
              <a:t>BCP – Booking Creative Places</a:t>
            </a:r>
            <a:r>
              <a:rPr lang="ru-RU" dirty="0"/>
              <a:t>» предоставляет следующие услуги:	</a:t>
            </a:r>
          </a:p>
          <a:p>
            <a:pPr marL="0" indent="0">
              <a:buNone/>
            </a:pPr>
            <a:r>
              <a:rPr lang="ru-RU" dirty="0"/>
              <a:t>Для арендодателей:</a:t>
            </a:r>
          </a:p>
          <a:p>
            <a:r>
              <a:rPr lang="ru-RU" dirty="0"/>
              <a:t>Выставлять свои креативные места в Москве</a:t>
            </a:r>
          </a:p>
          <a:p>
            <a:r>
              <a:rPr lang="ru-RU" dirty="0"/>
              <a:t>Просматривать свои карточки товаров</a:t>
            </a:r>
          </a:p>
          <a:p>
            <a:r>
              <a:rPr lang="ru-RU" dirty="0"/>
              <a:t>Отвечать на заявки клиентов</a:t>
            </a:r>
          </a:p>
          <a:p>
            <a:r>
              <a:rPr lang="ru-RU" dirty="0"/>
              <a:t>Редактировать карточки товаров</a:t>
            </a:r>
          </a:p>
          <a:p>
            <a:pPr marL="0" indent="0">
              <a:buNone/>
            </a:pPr>
            <a:r>
              <a:rPr lang="ru-RU" dirty="0"/>
              <a:t>Для арендаторов:</a:t>
            </a:r>
          </a:p>
          <a:p>
            <a:r>
              <a:rPr lang="ru-RU" dirty="0"/>
              <a:t>Возможность бронирования понравившегося места</a:t>
            </a:r>
          </a:p>
          <a:p>
            <a:r>
              <a:rPr lang="ru-RU" dirty="0"/>
              <a:t>Просмотр свободных дней на календаре</a:t>
            </a:r>
          </a:p>
          <a:p>
            <a:r>
              <a:rPr lang="ru-RU" dirty="0"/>
              <a:t>Добавление понравившихся мест в «Понравившиеся»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15575" y="1009081"/>
            <a:ext cx="9824904" cy="42149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Состав услуг нашего сайта</a:t>
            </a:r>
          </a:p>
        </p:txBody>
      </p:sp>
    </p:spTree>
    <p:extLst>
      <p:ext uri="{BB962C8B-B14F-4D97-AF65-F5344CB8AC3E}">
        <p14:creationId xmlns:p14="http://schemas.microsoft.com/office/powerpoint/2010/main" val="1964501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3" y="449509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03FDBB-CCEB-439F-A6A8-F6AB256D1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052439"/>
            <a:ext cx="9824904" cy="464365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Клиенты: Арендаторы и арендодатели</a:t>
            </a:r>
          </a:p>
          <a:p>
            <a:pPr marL="0" indent="0">
              <a:buNone/>
            </a:pPr>
            <a:r>
              <a:rPr lang="ru-RU" dirty="0"/>
              <a:t>Конкуренты: </a:t>
            </a:r>
            <a:r>
              <a:rPr lang="en-US" dirty="0"/>
              <a:t>Loft2Rent, </a:t>
            </a:r>
            <a:r>
              <a:rPr lang="en-US" dirty="0" err="1"/>
              <a:t>EventBooking</a:t>
            </a:r>
            <a:r>
              <a:rPr lang="en-US" dirty="0"/>
              <a:t>, </a:t>
            </a:r>
            <a:r>
              <a:rPr lang="en-US" dirty="0" err="1"/>
              <a:t>MUSbooking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Поставщики: Арендодатели, которые выкладывают свои креативные места</a:t>
            </a:r>
          </a:p>
          <a:p>
            <a:pPr marL="0" indent="0">
              <a:buNone/>
            </a:pPr>
            <a:r>
              <a:rPr lang="ru-RU" dirty="0"/>
              <a:t>Партнеры: Нет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57252" y="975889"/>
            <a:ext cx="9824904" cy="42149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Общая характеристика окружения организации</a:t>
            </a:r>
          </a:p>
        </p:txBody>
      </p:sp>
    </p:spTree>
    <p:extLst>
      <p:ext uri="{BB962C8B-B14F-4D97-AF65-F5344CB8AC3E}">
        <p14:creationId xmlns:p14="http://schemas.microsoft.com/office/powerpoint/2010/main" val="4275694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80" y="284131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58747" y="367929"/>
            <a:ext cx="9824904" cy="1108446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Производственная структура и организационная схема управления </a:t>
            </a:r>
          </a:p>
          <a:p>
            <a:pPr>
              <a:lnSpc>
                <a:spcPct val="107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предприятием и его подразделениями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1809802" y="5569186"/>
            <a:ext cx="6522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4.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Организационная</a:t>
            </a: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структура предприятия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F2322B-7013-4793-2DF4-4CF46990F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024" y="2182370"/>
            <a:ext cx="4501352" cy="3196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062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148" y="148252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05367" y="481766"/>
            <a:ext cx="9824904" cy="99532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Производственная структура и организационная схема управления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организацией и ее подразделениями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Структура программного и аппаратного обеспечения (</a:t>
            </a:r>
            <a:r>
              <a:rPr lang="ru-RU" b="0" dirty="0" err="1">
                <a:solidFill>
                  <a:srgbClr val="E60000"/>
                </a:solidFill>
              </a:rPr>
              <a:t>as-is</a:t>
            </a:r>
            <a:r>
              <a:rPr lang="ru-RU" b="0" dirty="0">
                <a:solidFill>
                  <a:srgbClr val="E60000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0" y="6730579"/>
            <a:ext cx="7776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5.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Схема аппаратного обеспечения (</a:t>
            </a:r>
            <a:r>
              <a:rPr lang="en-US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as-is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)</a:t>
            </a: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127A022-32F9-42D8-EE12-482EFBEAC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981" y="1876115"/>
            <a:ext cx="4705438" cy="464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1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965" y="170788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9061" y="728501"/>
            <a:ext cx="9824904" cy="84078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Производственная структура и организационная схема управления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организацией и ее подразделениями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Структура программного и аппаратного обеспечения (</a:t>
            </a:r>
            <a:r>
              <a:rPr lang="ru-RU" b="0" dirty="0" err="1">
                <a:solidFill>
                  <a:srgbClr val="E60000"/>
                </a:solidFill>
              </a:rPr>
              <a:t>as-is</a:t>
            </a:r>
            <a:r>
              <a:rPr lang="ru-RU" b="0" dirty="0">
                <a:solidFill>
                  <a:srgbClr val="E60000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E7270-AF5C-44A0-B0B3-1D3D6980C3A3}"/>
              </a:ext>
            </a:extLst>
          </p:cNvPr>
          <p:cNvSpPr txBox="1"/>
          <p:nvPr/>
        </p:nvSpPr>
        <p:spPr>
          <a:xfrm>
            <a:off x="666180" y="6588943"/>
            <a:ext cx="7056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6. Схема программной архитектуры(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as-is</a:t>
            </a: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C7ECB5-ED49-0565-D57A-EAA15FC23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351" y="1927169"/>
            <a:ext cx="6282698" cy="457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289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2" y="311993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57251" y="424825"/>
            <a:ext cx="9824904" cy="84078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0" dirty="0">
                <a:solidFill>
                  <a:srgbClr val="E60000"/>
                </a:solidFill>
              </a:rPr>
              <a:t>Основные и вспомогательные бизнес-процессы организации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16089-3084-4F43-B24C-E508BE83F98F}"/>
              </a:ext>
            </a:extLst>
          </p:cNvPr>
          <p:cNvSpPr txBox="1"/>
          <p:nvPr/>
        </p:nvSpPr>
        <p:spPr>
          <a:xfrm>
            <a:off x="394962" y="2052439"/>
            <a:ext cx="9560250" cy="3276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Из основных бизнес-процессов организации можно выделить следующие: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ffectLst/>
                <a:ea typeface="Times New Roman" panose="02020603050405020304" pitchFamily="18" charset="0"/>
              </a:rPr>
              <a:t>Учет </a:t>
            </a:r>
            <a:r>
              <a:rPr lang="ru-RU" sz="2000" dirty="0">
                <a:ea typeface="Times New Roman" panose="02020603050405020304" pitchFamily="18" charset="0"/>
              </a:rPr>
              <a:t>данных креативных мест</a:t>
            </a:r>
            <a:endParaRPr lang="ru-RU" sz="2000" dirty="0">
              <a:effectLst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Найм сотрудников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ffectLst/>
                <a:ea typeface="Times New Roman" panose="02020603050405020304" pitchFamily="18" charset="0"/>
              </a:rPr>
              <a:t>Учёт данных пользователей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a typeface="Times New Roman" panose="02020603050405020304" pitchFamily="18" charset="0"/>
              </a:rPr>
              <a:t>Бронирование креативных мест в Москве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ffectLst/>
                <a:ea typeface="Times New Roman" panose="02020603050405020304" pitchFamily="18" charset="0"/>
              </a:rPr>
              <a:t>Добавление своего креативного места на сайт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536575" algn="l"/>
                <a:tab pos="542925" algn="l"/>
              </a:tabLst>
            </a:pPr>
            <a:r>
              <a:rPr lang="ru-RU" sz="2000" dirty="0">
                <a:ea typeface="Times New Roman" panose="02020603050405020304" pitchFamily="18" charset="0"/>
              </a:rPr>
              <a:t>Добавление дополнительного оборудования при бронировании креативного мета</a:t>
            </a:r>
            <a:endParaRPr lang="ru-RU" sz="200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45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62" y="311993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57251" y="424825"/>
            <a:ext cx="9824904" cy="840781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0" dirty="0">
                <a:solidFill>
                  <a:srgbClr val="E60000"/>
                </a:solidFill>
              </a:rPr>
              <a:t>Основные и вспомогательные бизнес-процессы организации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92E753-F4E2-656B-7D88-8EF3C0757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296" y="2025566"/>
            <a:ext cx="7272808" cy="4374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0B5F973-6A29-A0F2-8663-5C5F3883D72C}"/>
              </a:ext>
            </a:extLst>
          </p:cNvPr>
          <p:cNvSpPr txBox="1"/>
          <p:nvPr/>
        </p:nvSpPr>
        <p:spPr>
          <a:xfrm>
            <a:off x="1242244" y="6588943"/>
            <a:ext cx="7056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7.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Основные и вспомогательные бизнес-процессы</a:t>
            </a: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4161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C5A7F-76CB-4A03-A575-6A445E1D2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18" y="229948"/>
            <a:ext cx="9687193" cy="498598"/>
          </a:xfrm>
        </p:spPr>
        <p:txBody>
          <a:bodyPr/>
          <a:lstStyle/>
          <a:p>
            <a:r>
              <a:rPr lang="ru-RU" sz="3600" dirty="0"/>
              <a:t>Исследовательский этап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41F5A9D-2AFC-4924-AC97-8FA95AAB3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1737514"/>
            <a:ext cx="10298437" cy="50674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800" u="sng" dirty="0"/>
              <a:t>Автоматизированные бизнес-процессы:</a:t>
            </a:r>
          </a:p>
          <a:p>
            <a:r>
              <a:rPr lang="ru-RU" sz="1800" dirty="0"/>
              <a:t>Учет данных пользователей</a:t>
            </a:r>
          </a:p>
          <a:p>
            <a:r>
              <a:rPr lang="ru-RU" sz="1800" dirty="0"/>
              <a:t>Учет данных креативных мест</a:t>
            </a:r>
          </a:p>
          <a:p>
            <a:pPr marL="0" indent="0">
              <a:buNone/>
            </a:pPr>
            <a:r>
              <a:rPr lang="ru-RU" sz="1800" u="sng" dirty="0"/>
              <a:t>Неавтоматизированные процессы:</a:t>
            </a:r>
          </a:p>
          <a:p>
            <a:r>
              <a:rPr lang="ru-RU" sz="1800" dirty="0"/>
              <a:t>Публикация креативного места на сайте</a:t>
            </a:r>
          </a:p>
          <a:p>
            <a:r>
              <a:rPr lang="ru-RU" sz="1800" dirty="0"/>
              <a:t>Подборка привлекательных креативных мест</a:t>
            </a:r>
          </a:p>
          <a:p>
            <a:r>
              <a:rPr lang="ru-RU" sz="1800" dirty="0"/>
              <a:t>Процесс обработки заявки креативного места с помощью администрации, для показа другим пользователям. (</a:t>
            </a:r>
            <a:r>
              <a:rPr lang="ru-RU" sz="1800" b="1" dirty="0"/>
              <a:t>Этот процесс было решено автоматизировать</a:t>
            </a:r>
            <a:r>
              <a:rPr lang="ru-RU" sz="1800" dirty="0"/>
              <a:t>)</a:t>
            </a:r>
          </a:p>
          <a:p>
            <a:pPr marL="0" indent="0">
              <a:buNone/>
            </a:pPr>
            <a:r>
              <a:rPr lang="ru-RU" sz="1800" dirty="0"/>
              <a:t>Данный процесс состоит из следующих подпроцессов:</a:t>
            </a:r>
          </a:p>
          <a:p>
            <a:r>
              <a:rPr lang="ru-RU" sz="1800" dirty="0"/>
              <a:t>Обращение в администрацию;</a:t>
            </a:r>
          </a:p>
          <a:p>
            <a:r>
              <a:rPr lang="ru-RU" sz="1800" dirty="0"/>
              <a:t>Оформление заявки;</a:t>
            </a:r>
          </a:p>
          <a:p>
            <a:r>
              <a:rPr lang="ru-RU" sz="1800" dirty="0"/>
              <a:t>Работы по заявке;</a:t>
            </a:r>
          </a:p>
          <a:p>
            <a:r>
              <a:rPr lang="ru-RU" sz="1800" dirty="0"/>
              <a:t>Обработка креативного места;</a:t>
            </a:r>
          </a:p>
          <a:p>
            <a:r>
              <a:rPr lang="ru-RU" sz="1800" dirty="0"/>
              <a:t>Окончательный вердикт.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47E617-D31D-4D36-9676-5263B1B6231E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9" y="974752"/>
            <a:ext cx="10302311" cy="42149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Перечень автоматизированных и неавтоматизированных бизнес-процессов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b="0" dirty="0">
                <a:solidFill>
                  <a:srgbClr val="E60000"/>
                </a:solidFill>
              </a:rPr>
              <a:t>Выводы о возможности автоматизации одного из неавтоматизированных бизнес-процессов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9D6EE2-A117-4657-B57F-7EFC8A76F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292" y="3348583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395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B69289-9DDC-4694-ACEC-809A4F61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262468"/>
            <a:ext cx="10160727" cy="1481944"/>
          </a:xfrm>
        </p:spPr>
        <p:txBody>
          <a:bodyPr/>
          <a:lstStyle/>
          <a:p>
            <a:r>
              <a:rPr lang="ru-RU" sz="3600" dirty="0"/>
              <a:t>Проектный этап</a:t>
            </a:r>
            <a:r>
              <a:rPr lang="en-US" sz="3600" dirty="0"/>
              <a:t>.</a:t>
            </a:r>
            <a:r>
              <a:rPr lang="ru-RU" sz="3600" dirty="0"/>
              <a:t> </a:t>
            </a:r>
            <a:br>
              <a:rPr lang="ru-RU" sz="3600" dirty="0"/>
            </a:br>
            <a:r>
              <a:rPr lang="ru-RU" sz="3000" dirty="0"/>
              <a:t>Экспериментально-практическая работа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4BD0FD-BFCD-433E-B213-6B751D24B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043" y="2017544"/>
            <a:ext cx="9526363" cy="313123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На основе результатов, полученных в предыдущем пункте, строится дерево программных модулей, отражающих структурную схему пакета, содержащего программные модули различных классов:</a:t>
            </a:r>
          </a:p>
          <a:p>
            <a:pPr algn="just"/>
            <a:r>
              <a:rPr lang="ru-RU" dirty="0"/>
              <a:t>выполняющие служебные функции;</a:t>
            </a:r>
          </a:p>
          <a:p>
            <a:pPr algn="just"/>
            <a:r>
              <a:rPr lang="ru-RU" dirty="0"/>
              <a:t>управляющие модули, предназначенные для загрузки меню и передачи управления другому модулю;</a:t>
            </a:r>
          </a:p>
          <a:p>
            <a:pPr algn="just"/>
            <a:r>
              <a:rPr lang="ru-RU" dirty="0"/>
              <a:t>модули, связанные с  вводом, хранением, обработкой и выдачей информации;</a:t>
            </a:r>
          </a:p>
          <a:p>
            <a:pPr algn="just"/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F044E46-EA8F-4950-B25A-DD6EB06F40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48003" y="987376"/>
            <a:ext cx="9824904" cy="878934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Структурная схема пакета (дерево вызова процедур и программ)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56650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8687" y="226632"/>
            <a:ext cx="9687193" cy="997196"/>
          </a:xfrm>
        </p:spPr>
        <p:txBody>
          <a:bodyPr/>
          <a:lstStyle/>
          <a:p>
            <a:r>
              <a:rPr lang="ru-RU" sz="3600" dirty="0"/>
              <a:t>Идентификатор и выполняемые функции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9831" y="1233049"/>
            <a:ext cx="9824904" cy="400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>
                <a:solidFill>
                  <a:srgbClr val="E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Таблица описания функций модулей</a:t>
            </a:r>
          </a:p>
          <a:p>
            <a:pPr marL="0" indent="0">
              <a:buNone/>
            </a:pP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4506855"/>
              </p:ext>
            </p:extLst>
          </p:nvPr>
        </p:nvGraphicFramePr>
        <p:xfrm>
          <a:off x="4411" y="1764408"/>
          <a:ext cx="10688990" cy="46634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838129">
                  <a:extLst>
                    <a:ext uri="{9D8B030D-6E8A-4147-A177-3AD203B41FA5}">
                      <a16:colId xmlns:a16="http://schemas.microsoft.com/office/drawing/2014/main" val="1518760211"/>
                    </a:ext>
                  </a:extLst>
                </a:gridCol>
                <a:gridCol w="2465481">
                  <a:extLst>
                    <a:ext uri="{9D8B030D-6E8A-4147-A177-3AD203B41FA5}">
                      <a16:colId xmlns:a16="http://schemas.microsoft.com/office/drawing/2014/main" val="2333608758"/>
                    </a:ext>
                  </a:extLst>
                </a:gridCol>
                <a:gridCol w="7385380">
                  <a:extLst>
                    <a:ext uri="{9D8B030D-6E8A-4147-A177-3AD203B41FA5}">
                      <a16:colId xmlns:a16="http://schemas.microsoft.com/office/drawing/2014/main" val="1721883718"/>
                    </a:ext>
                  </a:extLst>
                </a:gridCol>
              </a:tblGrid>
              <a:tr h="13293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№ п/п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Наименование модуля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Функции модуля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06140"/>
                  </a:ext>
                </a:extLst>
              </a:tr>
              <a:tr h="22156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Глобальный модуль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/>
                        <a:t>Содержит глобальные процедуры и функции, предопределенные процедуры, процедуры и функции, которые необходимо выполнить при запуске сайта «</a:t>
                      </a:r>
                      <a:r>
                        <a:rPr lang="en-US" sz="1200" dirty="0"/>
                        <a:t>BCP – Booking Creative Places</a:t>
                      </a:r>
                      <a:r>
                        <a:rPr lang="ru-RU" sz="1200" dirty="0"/>
                        <a:t>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494490"/>
                  </a:ext>
                </a:extLst>
              </a:tr>
              <a:tr h="22156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Модуль «Вход пользователя на сайт»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78229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Содержит предопределенные процедуры входа пользователя на сайт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500922"/>
                  </a:ext>
                </a:extLst>
              </a:tr>
              <a:tr h="22156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Модуль «Регистрация нового пользователя на сайте»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/>
                        <a:t>Содержит предопределенные процедуры регистрации пользователя на сайте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737439"/>
                  </a:ext>
                </a:extLst>
              </a:tr>
              <a:tr h="22156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Модуль «Личный кабинет пользователя»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/>
                        <a:t>Содержит предопределённые процедуры просмотра личного кабинета пользователя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625759"/>
                  </a:ext>
                </a:extLst>
              </a:tr>
              <a:tr h="13293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Модуль информационный «Новости»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/>
                        <a:t>Содержит предопределённые информационные процедуры просмотра новостей пользователем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9371227"/>
                  </a:ext>
                </a:extLst>
              </a:tr>
              <a:tr h="13293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Модуль «Сдаю»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/>
                        <a:t>Содержит предопределённые процедуры входа пользователя, как арендодателя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5225471"/>
                  </a:ext>
                </a:extLst>
              </a:tr>
              <a:tr h="13293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Модуль «Снимаю»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/>
                        <a:t>Содержит предопределённые процедуры входа пользователя, как арендатора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6371871"/>
                  </a:ext>
                </a:extLst>
              </a:tr>
              <a:tr h="13293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Модель загрузки данных пользователей в </a:t>
                      </a:r>
                      <a:r>
                        <a:rPr lang="en-US" sz="1200" dirty="0"/>
                        <a:t>MySQL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/>
                        <a:t>Содержит предопределённые процедуры загрузки всех данных пользователей в базу данных </a:t>
                      </a:r>
                      <a:r>
                        <a:rPr lang="en-US" sz="1200" dirty="0"/>
                        <a:t>MySQL</a:t>
                      </a:r>
                      <a:endParaRPr lang="ru-RU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194413"/>
                  </a:ext>
                </a:extLst>
              </a:tr>
              <a:tr h="13293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9.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Модуль «Аренда площадки»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/>
                        <a:t>Содержит предопределённые процедуры загрузки креативного места арендодателем на сайт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318348"/>
                  </a:ext>
                </a:extLst>
              </a:tr>
              <a:tr h="13293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Модуль информационный «О нас»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/>
                        <a:t>Содержит просмотр информации о сайте «</a:t>
                      </a:r>
                      <a:r>
                        <a:rPr lang="en-US" sz="1200" dirty="0"/>
                        <a:t>BCP – Booking Creative Places</a:t>
                      </a:r>
                      <a:r>
                        <a:rPr lang="ru-RU" sz="1200" dirty="0"/>
                        <a:t>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07779"/>
                  </a:ext>
                </a:extLst>
              </a:tr>
              <a:tr h="13293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Модуль «Календарь»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/>
                        <a:t>Содержит просмотр всех закрытых и открытых дат бронирования креативного места на календаре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36956"/>
                  </a:ext>
                </a:extLst>
              </a:tr>
              <a:tr h="132938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200" dirty="0"/>
                        <a:t>Модуль заголовочной формы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200" dirty="0"/>
                        <a:t>Содержит просмотр заголовочной формы на сайте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29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69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4962" y="2268463"/>
            <a:ext cx="9824904" cy="348881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/>
              <a:t>Если проектирование ведется с помощью языков четвертого поколения, например, генераторов экранных форм, отчетов, то эту схему следует преобразовать в схему настройки, отражающую  виды и состав используемых объектов проектирования по каждому виду, применяемому в этих средствах: «Форм», «Отчетов», «Запросов» и «Кнопочная форма». </a:t>
            </a:r>
          </a:p>
          <a:p>
            <a:pPr marL="0" indent="0" algn="just">
              <a:buNone/>
            </a:pPr>
            <a:r>
              <a:rPr lang="ru-RU" dirty="0"/>
              <a:t>Рисунок представлен на следующем слайде.</a:t>
            </a:r>
          </a:p>
          <a:p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3818" y="449509"/>
            <a:ext cx="9687193" cy="997196"/>
          </a:xfrm>
        </p:spPr>
        <p:txBody>
          <a:bodyPr/>
          <a:lstStyle/>
          <a:p>
            <a:r>
              <a:rPr lang="ru-RU" sz="3600" dirty="0"/>
              <a:t>Виды и состав используемых объектов проектирования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3723776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3818" y="449509"/>
            <a:ext cx="9687193" cy="997196"/>
          </a:xfrm>
        </p:spPr>
        <p:txBody>
          <a:bodyPr/>
          <a:lstStyle/>
          <a:p>
            <a:r>
              <a:rPr lang="ru-RU" sz="3600" dirty="0"/>
              <a:t>Виды и состав используемых объектов проектирования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02A008-2D99-38D4-AC51-4880E7D57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721" y="2412479"/>
            <a:ext cx="8001958" cy="3240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102B5B-6EF9-B021-54B0-74D013769C51}"/>
              </a:ext>
            </a:extLst>
          </p:cNvPr>
          <p:cNvSpPr txBox="1"/>
          <p:nvPr/>
        </p:nvSpPr>
        <p:spPr>
          <a:xfrm>
            <a:off x="1530276" y="6618613"/>
            <a:ext cx="7056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8.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Модельная структура программного продукта</a:t>
            </a: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47203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084" y="612279"/>
            <a:ext cx="9687193" cy="997196"/>
          </a:xfrm>
        </p:spPr>
        <p:txBody>
          <a:bodyPr/>
          <a:lstStyle/>
          <a:p>
            <a:r>
              <a:rPr lang="ru-RU" sz="3600" dirty="0"/>
              <a:t>Описание программных модулей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502084" y="2196455"/>
            <a:ext cx="9687193" cy="3488816"/>
          </a:xfrm>
        </p:spPr>
        <p:txBody>
          <a:bodyPr/>
          <a:lstStyle/>
          <a:p>
            <a:pPr marL="0" indent="542925" algn="just">
              <a:buNone/>
            </a:pPr>
            <a:r>
              <a:rPr lang="ru-RU" dirty="0"/>
              <a:t>Описание программных модулей должно включать блок-схемы (возможно привести блок-схему одного из расчётных модулей) и описание  блок-схем алгоритмов основных расчетных модулей (объемом не менее 500 операторов) или настройки программных модулей (при внедрении типовых информационных систем).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2532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084" y="612279"/>
            <a:ext cx="9687193" cy="997196"/>
          </a:xfrm>
        </p:spPr>
        <p:txBody>
          <a:bodyPr/>
          <a:lstStyle/>
          <a:p>
            <a:r>
              <a:rPr lang="ru-RU" sz="3600" dirty="0"/>
              <a:t>Описание программных модулей</a:t>
            </a:r>
            <a:br>
              <a:rPr lang="ru-RU" sz="3600" dirty="0"/>
            </a:br>
            <a:endParaRPr lang="ru-RU" sz="3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194CCA-8445-962C-AB57-AD254307B6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3676" y="1836415"/>
            <a:ext cx="4666047" cy="46085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8E6484-EAAB-6545-07AB-F038C2408E6D}"/>
              </a:ext>
            </a:extLst>
          </p:cNvPr>
          <p:cNvSpPr txBox="1"/>
          <p:nvPr/>
        </p:nvSpPr>
        <p:spPr>
          <a:xfrm>
            <a:off x="2826420" y="6579652"/>
            <a:ext cx="44644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9.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Описание модуля «Вход»</a:t>
            </a: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168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33715" y="1548383"/>
            <a:ext cx="9824904" cy="3488816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  <a:p>
            <a:pPr marL="0" indent="542925" algn="just">
              <a:buNone/>
            </a:pPr>
            <a:r>
              <a:rPr lang="ru-RU" b="1" dirty="0"/>
              <a:t>Сайт «</a:t>
            </a:r>
            <a:r>
              <a:rPr lang="ru-RU" b="1" dirty="0" err="1"/>
              <a:t>Суточно.ру</a:t>
            </a:r>
            <a:r>
              <a:rPr lang="ru-RU" b="1" dirty="0"/>
              <a:t>» </a:t>
            </a:r>
            <a:r>
              <a:rPr lang="ru-RU" dirty="0"/>
              <a:t>имеет  модульную форму организации. В глобальном модуле хранятся переменные, процедуры и функции, доступные из любых других модулей.</a:t>
            </a:r>
          </a:p>
          <a:p>
            <a:endParaRPr lang="ru-RU" dirty="0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02571" y="430880"/>
            <a:ext cx="9687193" cy="49859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78229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4100" b="1" kern="120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 sz="3600" dirty="0"/>
              <a:t>Пример № 1</a:t>
            </a:r>
          </a:p>
        </p:txBody>
      </p:sp>
      <p:sp>
        <p:nvSpPr>
          <p:cNvPr id="8" name="Текст 3"/>
          <p:cNvSpPr>
            <a:spLocks noGrp="1"/>
          </p:cNvSpPr>
          <p:nvPr>
            <p:ph type="body" idx="13"/>
          </p:nvPr>
        </p:nvSpPr>
        <p:spPr>
          <a:xfrm>
            <a:off x="464860" y="952212"/>
            <a:ext cx="9824904" cy="78153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Структурная схема пакета (дерево вызова процедур и программ)</a:t>
            </a:r>
          </a:p>
          <a:p>
            <a:endParaRPr lang="ru-RU" b="0" dirty="0"/>
          </a:p>
        </p:txBody>
      </p:sp>
    </p:spTree>
    <p:extLst>
      <p:ext uri="{BB962C8B-B14F-4D97-AF65-F5344CB8AC3E}">
        <p14:creationId xmlns:p14="http://schemas.microsoft.com/office/powerpoint/2010/main" val="3296530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22164" y="677286"/>
            <a:ext cx="9687193" cy="498598"/>
          </a:xfrm>
        </p:spPr>
        <p:txBody>
          <a:bodyPr/>
          <a:lstStyle/>
          <a:p>
            <a:r>
              <a:rPr lang="ru-RU" sz="3600" dirty="0"/>
              <a:t>Дерево вызова процедур и функций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0D88C2D-5206-434B-00D6-F566BB957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687" y="1980431"/>
            <a:ext cx="6296025" cy="43910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B10CE8-7E71-1092-1BBE-CAA52F9573AC}"/>
              </a:ext>
            </a:extLst>
          </p:cNvPr>
          <p:cNvSpPr txBox="1"/>
          <p:nvPr/>
        </p:nvSpPr>
        <p:spPr>
          <a:xfrm>
            <a:off x="2322364" y="6588943"/>
            <a:ext cx="5616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538163" algn="ctr" defTabSz="1043056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tabLst/>
              <a:defRPr/>
            </a:pPr>
            <a:r>
              <a:rPr kumimoji="0" lang="ru-RU" sz="1800" b="1" i="1" u="none" strike="noStrike" kern="1200" cap="none" spc="0" normalizeH="0" baseline="0" noProof="0" dirty="0">
                <a:ln>
                  <a:noFill/>
                </a:ln>
                <a:solidFill>
                  <a:srgbClr val="70AD47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Рисунок 10. Дерево </a:t>
            </a:r>
            <a:r>
              <a:rPr lang="ru-RU" sz="1800" b="1" i="1" dirty="0">
                <a:solidFill>
                  <a:srgbClr val="70AD47">
                    <a:lumMod val="75000"/>
                  </a:srgbClr>
                </a:solidFill>
                <a:latin typeface="Calibri" panose="020F0502020204030204"/>
              </a:rPr>
              <a:t>вызова процедур и функций</a:t>
            </a:r>
            <a:endParaRPr kumimoji="0" lang="ru-RU" sz="1800" b="1" i="1" u="none" strike="noStrike" kern="1200" cap="none" spc="0" normalizeH="0" baseline="0" noProof="0" dirty="0">
              <a:ln>
                <a:noFill/>
              </a:ln>
              <a:solidFill>
                <a:srgbClr val="70AD47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328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7311" y="464342"/>
            <a:ext cx="9687193" cy="498598"/>
          </a:xfrm>
        </p:spPr>
        <p:txBody>
          <a:bodyPr/>
          <a:lstStyle/>
          <a:p>
            <a:r>
              <a:rPr lang="ru-RU" sz="3600" dirty="0"/>
              <a:t>Пример № 1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8456" y="1836415"/>
            <a:ext cx="9824904" cy="4680520"/>
          </a:xfrm>
        </p:spPr>
        <p:txBody>
          <a:bodyPr>
            <a:normAutofit fontScale="85000" lnSpcReduction="10000"/>
          </a:bodyPr>
          <a:lstStyle/>
          <a:p>
            <a:pPr marL="0" indent="54292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После открытия нашего сайта, пользователю сразу высвечивается окно регистрации/входа на сайт. Так же снизу высвечиваются две кнопки "Сдаю" и "Снимаю". </a:t>
            </a:r>
          </a:p>
          <a:p>
            <a:pPr marL="0" indent="54292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Кнопка "Войти". После регистрации на сайте, вводе почты и пароля, данные сверяются с данными в базе данных и если они верны, то пользователь может зайти на сайт.</a:t>
            </a:r>
          </a:p>
          <a:p>
            <a:pPr marL="0" indent="54292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Кнопка "Снимаю". После нажатия на эту кнопку и регистрации у пользователя появляются права арендатора и он может отправлять заявки на аренду и арендовать любое креативное место в Москве на сайте. </a:t>
            </a:r>
          </a:p>
          <a:p>
            <a:pPr marL="0" indent="542925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/>
              <a:t>Кнопка "Сдаю". После нажатия на эту кнопку и регистрации у пользователя появляются права арендодателя и он может выставлять свои креативные места на сайт для аренды. Так же в личном кабинете пользователь может отвечать на заявки арендаторов и редактировать карточки креативных мест. Все эти действия заносятся в базу данных. 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408456" y="1031634"/>
            <a:ext cx="38129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x-none" sz="1800" dirty="0">
                <a:solidFill>
                  <a:srgbClr val="E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Описание программных модулей</a:t>
            </a:r>
            <a:endParaRPr lang="ru-RU" sz="1800" dirty="0">
              <a:solidFill>
                <a:srgbClr val="E6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0629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12103" y="417024"/>
            <a:ext cx="9687193" cy="498598"/>
          </a:xfrm>
        </p:spPr>
        <p:txBody>
          <a:bodyPr/>
          <a:lstStyle/>
          <a:p>
            <a:r>
              <a:rPr lang="ru-RU" sz="3600" dirty="0"/>
              <a:t>Пример № 1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43247" y="2005989"/>
            <a:ext cx="9824904" cy="4510945"/>
          </a:xfrm>
        </p:spPr>
        <p:txBody>
          <a:bodyPr>
            <a:normAutofit/>
          </a:bodyPr>
          <a:lstStyle/>
          <a:p>
            <a:pPr lvl="0" algn="just"/>
            <a:r>
              <a:rPr lang="ru-RU" dirty="0"/>
              <a:t>Ведение базы данных арендаторов и арендодателей;</a:t>
            </a:r>
          </a:p>
          <a:p>
            <a:pPr lvl="0" algn="just"/>
            <a:r>
              <a:rPr lang="ru-RU" dirty="0"/>
              <a:t>Ведение базы данных всех креативных мест на сайте;</a:t>
            </a:r>
          </a:p>
          <a:p>
            <a:pPr lvl="0" algn="just"/>
            <a:r>
              <a:rPr lang="ru-RU" dirty="0"/>
              <a:t>Ведение базы данных всех заявок на аренду креативных мест;</a:t>
            </a:r>
          </a:p>
          <a:p>
            <a:pPr lvl="0" algn="just"/>
            <a:r>
              <a:rPr lang="ru-RU" dirty="0"/>
              <a:t>Учет использования аккумуляторов, их перемещения между механизмами и подменным фондом;</a:t>
            </a:r>
          </a:p>
          <a:p>
            <a:pPr lvl="0" algn="just"/>
            <a:r>
              <a:rPr lang="ru-RU" dirty="0"/>
              <a:t>Недельный и месячный прогноз на цену аренды креативного места в отдельных районах;</a:t>
            </a:r>
          </a:p>
          <a:p>
            <a:pPr lvl="0" algn="just"/>
            <a:r>
              <a:rPr lang="ru-RU" dirty="0"/>
              <a:t>Обращение в базу данных за данными пользователей (арендаторов и арендодателей)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3"/>
          </p:nvPr>
        </p:nvSpPr>
        <p:spPr>
          <a:xfrm>
            <a:off x="374392" y="1252667"/>
            <a:ext cx="9824904" cy="421490"/>
          </a:xfrm>
        </p:spPr>
        <p:txBody>
          <a:bodyPr/>
          <a:lstStyle/>
          <a:p>
            <a:r>
              <a:rPr lang="ru-RU" b="0" dirty="0">
                <a:solidFill>
                  <a:srgbClr val="E60000"/>
                </a:solidFill>
              </a:rPr>
              <a:t>Задачи, которые позволяет решать модуль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478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2673" y="346617"/>
            <a:ext cx="9687193" cy="997196"/>
          </a:xfrm>
        </p:spPr>
        <p:txBody>
          <a:bodyPr/>
          <a:lstStyle/>
          <a:p>
            <a:r>
              <a:rPr lang="ru-RU" sz="3600" dirty="0"/>
              <a:t>Пример № 2</a:t>
            </a:r>
            <a:br>
              <a:rPr lang="ru-RU" sz="3600" dirty="0"/>
            </a:br>
            <a:endParaRPr lang="ru-RU" sz="3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4963" y="1875194"/>
            <a:ext cx="9824904" cy="4785757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ru-RU" dirty="0"/>
              <a:t>Дерево программных модулей отражает структурную схему пакета, содержащую программные модули различных классов:</a:t>
            </a:r>
            <a:endParaRPr lang="ru-RU" sz="2000" dirty="0"/>
          </a:p>
          <a:p>
            <a:pPr marL="0" lvl="0" indent="0" algn="just">
              <a:buNone/>
            </a:pPr>
            <a:r>
              <a:rPr lang="ru-RU" dirty="0"/>
              <a:t>Управляющий модуль, предназначенный для загрузки меню и передачи управления другому модулю:</a:t>
            </a:r>
            <a:endParaRPr lang="ru-RU" sz="2000" dirty="0"/>
          </a:p>
          <a:p>
            <a:pPr lvl="2" algn="just"/>
            <a:r>
              <a:rPr lang="ru-RU" sz="1800" dirty="0"/>
              <a:t>основной модуль с главным кодом (идентификатор: </a:t>
            </a:r>
            <a:r>
              <a:rPr lang="en-US" sz="1800" dirty="0"/>
              <a:t>mod</a:t>
            </a:r>
            <a:r>
              <a:rPr lang="ru-RU" sz="1800" dirty="0"/>
              <a:t>_</a:t>
            </a:r>
            <a:r>
              <a:rPr lang="en-US" sz="1800" dirty="0"/>
              <a:t>main</a:t>
            </a:r>
            <a:r>
              <a:rPr lang="ru-RU" sz="1800" dirty="0"/>
              <a:t>, функции и процедуры модуля: обработка входных данных и вызов необходимых внешних модулей);</a:t>
            </a:r>
            <a:endParaRPr lang="ru-RU" sz="1600" dirty="0"/>
          </a:p>
          <a:p>
            <a:pPr marL="0" lvl="0" indent="0" algn="just">
              <a:buNone/>
            </a:pPr>
            <a:r>
              <a:rPr lang="ru-RU" dirty="0"/>
              <a:t>Модули, выполняющие служебные функции:</a:t>
            </a:r>
            <a:endParaRPr lang="ru-RU" sz="2000" dirty="0"/>
          </a:p>
          <a:p>
            <a:pPr lvl="2" algn="just"/>
            <a:r>
              <a:rPr lang="ru-RU" sz="1800" dirty="0"/>
              <a:t>модуль вспомогательных процедур и функций (идентификатор: </a:t>
            </a:r>
            <a:r>
              <a:rPr lang="en-US" sz="1800" dirty="0"/>
              <a:t>mod</a:t>
            </a:r>
            <a:r>
              <a:rPr lang="ru-RU" sz="1800" dirty="0"/>
              <a:t>_</a:t>
            </a:r>
            <a:r>
              <a:rPr lang="en-US" sz="1800" dirty="0" err="1"/>
              <a:t>func</a:t>
            </a:r>
            <a:r>
              <a:rPr lang="ru-RU" sz="1800" dirty="0"/>
              <a:t>, функции и процедуры модуля: обработка формата строки, форматирование строки с числами, расчет даты/времени);</a:t>
            </a:r>
            <a:endParaRPr lang="ru-RU" sz="1600" dirty="0"/>
          </a:p>
          <a:p>
            <a:pPr lvl="2" algn="just"/>
            <a:r>
              <a:rPr lang="ru-RU" sz="1800" dirty="0"/>
              <a:t>модуль аутентификации пользователей (идентификатор: </a:t>
            </a:r>
            <a:r>
              <a:rPr lang="en-US" sz="1800" dirty="0"/>
              <a:t>mod</a:t>
            </a:r>
            <a:r>
              <a:rPr lang="ru-RU" sz="1800" dirty="0"/>
              <a:t>_</a:t>
            </a:r>
            <a:r>
              <a:rPr lang="en-US" sz="1800" dirty="0" err="1"/>
              <a:t>auth</a:t>
            </a:r>
            <a:r>
              <a:rPr lang="ru-RU" sz="1800" dirty="0"/>
              <a:t>, функции и процедуры модуля: проверка логина/пароля, обработка </a:t>
            </a:r>
            <a:r>
              <a:rPr lang="en-US" sz="1800" dirty="0"/>
              <a:t>cookies</a:t>
            </a:r>
            <a:r>
              <a:rPr lang="ru-RU" sz="1800" dirty="0"/>
              <a:t>);</a:t>
            </a:r>
          </a:p>
          <a:p>
            <a:pPr marL="0" lvl="0" indent="0" algn="just">
              <a:buNone/>
            </a:pPr>
            <a:r>
              <a:rPr lang="ru-RU" dirty="0"/>
              <a:t>Модули, связанные с  вводом, хранением, обработкой и выдачей информации:</a:t>
            </a:r>
            <a:endParaRPr lang="ru-RU" sz="2000" dirty="0"/>
          </a:p>
          <a:p>
            <a:pPr lvl="2" algn="just"/>
            <a:r>
              <a:rPr lang="ru-RU" sz="1800" dirty="0"/>
              <a:t>модуль процедур и функций для работы с администратором (идентификатор: </a:t>
            </a:r>
            <a:r>
              <a:rPr lang="en-US" sz="1800" dirty="0"/>
              <a:t>mod</a:t>
            </a:r>
            <a:r>
              <a:rPr lang="ru-RU" sz="1800" dirty="0"/>
              <a:t>_</a:t>
            </a:r>
            <a:r>
              <a:rPr lang="en-US" sz="1800" dirty="0"/>
              <a:t>admin</a:t>
            </a:r>
            <a:r>
              <a:rPr lang="ru-RU" sz="1800" dirty="0"/>
              <a:t>, функции и процедуры модуля: вывод начального меню диалога работы с администратором, вывод заданного отчета);</a:t>
            </a:r>
            <a:endParaRPr lang="ru-RU" sz="1600" dirty="0"/>
          </a:p>
          <a:p>
            <a:pPr lvl="2" algn="just"/>
            <a:r>
              <a:rPr lang="ru-RU" sz="1800" dirty="0"/>
              <a:t>модуль процедур и функций для работы с арендатором (идентификатор: </a:t>
            </a:r>
            <a:r>
              <a:rPr lang="en-US" sz="1800" dirty="0"/>
              <a:t>mod</a:t>
            </a:r>
            <a:r>
              <a:rPr lang="ru-RU" sz="1800" dirty="0"/>
              <a:t>_</a:t>
            </a:r>
            <a:r>
              <a:rPr lang="en-US" sz="1800" dirty="0"/>
              <a:t>tenant</a:t>
            </a:r>
            <a:r>
              <a:rPr lang="ru-RU" sz="1800" dirty="0"/>
              <a:t>, функции и процедуры модуля: вывод креативных мест, вывод параметров креативного места, вывод подтверждения счета/заявки арендатора, вывод диалога интерактивной консультации с администратором).</a:t>
            </a:r>
            <a:endParaRPr lang="ru-RU" sz="1600" dirty="0"/>
          </a:p>
          <a:p>
            <a:endParaRPr lang="ru-RU" sz="2000" dirty="0"/>
          </a:p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3"/>
          </p:nvPr>
        </p:nvSpPr>
        <p:spPr>
          <a:xfrm>
            <a:off x="369289" y="877998"/>
            <a:ext cx="9824904" cy="781530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Структурная схема пакета (дерево вызова процедур и программ)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523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0156" y="688036"/>
            <a:ext cx="9687193" cy="498598"/>
          </a:xfrm>
        </p:spPr>
        <p:txBody>
          <a:bodyPr/>
          <a:lstStyle/>
          <a:p>
            <a:r>
              <a:rPr lang="ru-RU" sz="3600" dirty="0"/>
              <a:t>Дерево вызова процедур и функций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61025" y="799028"/>
            <a:ext cx="106934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896D6A-28E5-E891-39B2-74AF7E269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368" y="1980431"/>
            <a:ext cx="5976664" cy="440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7439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3818" y="468467"/>
            <a:ext cx="9687193" cy="498598"/>
          </a:xfrm>
        </p:spPr>
        <p:txBody>
          <a:bodyPr/>
          <a:lstStyle/>
          <a:p>
            <a:r>
              <a:rPr lang="ru-RU" sz="3600" dirty="0"/>
              <a:t>Пример № 2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6175" y="2052439"/>
            <a:ext cx="9824904" cy="348881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На рисунке представлен алгоритм основного модуля.</a:t>
            </a:r>
          </a:p>
          <a:p>
            <a:pPr marL="0" indent="0">
              <a:buNone/>
            </a:pPr>
            <a:r>
              <a:rPr lang="ru-RU" dirty="0"/>
              <a:t>Модуль </a:t>
            </a:r>
            <a:r>
              <a:rPr lang="en-US" dirty="0"/>
              <a:t>mod</a:t>
            </a:r>
            <a:r>
              <a:rPr lang="ru-RU" dirty="0"/>
              <a:t>_</a:t>
            </a:r>
            <a:r>
              <a:rPr lang="en-US" dirty="0"/>
              <a:t>main</a:t>
            </a:r>
            <a:r>
              <a:rPr lang="ru-RU" dirty="0"/>
              <a:t>:</a:t>
            </a:r>
          </a:p>
          <a:p>
            <a:r>
              <a:rPr lang="ru-RU" dirty="0"/>
              <a:t>Главный модуль проекта, предназначенный для чтения и обработки входных данных, а также вызова внешних модулей на их основании.</a:t>
            </a:r>
          </a:p>
          <a:p>
            <a:pPr marL="0" indent="0">
              <a:buNone/>
            </a:pPr>
            <a:r>
              <a:rPr lang="ru-RU" dirty="0"/>
              <a:t>Модуль </a:t>
            </a:r>
            <a:r>
              <a:rPr lang="en-US" dirty="0"/>
              <a:t>mod</a:t>
            </a:r>
            <a:r>
              <a:rPr lang="ru-RU" dirty="0"/>
              <a:t>_</a:t>
            </a:r>
            <a:r>
              <a:rPr lang="en-US" dirty="0" err="1"/>
              <a:t>func</a:t>
            </a:r>
            <a:r>
              <a:rPr lang="ru-RU" dirty="0"/>
              <a:t>:</a:t>
            </a:r>
          </a:p>
          <a:p>
            <a:r>
              <a:rPr lang="ru-RU" dirty="0"/>
              <a:t>Модуль вспомогательных процедур и функций, предназначен для обработки формата строки, формирования строки с числами и расчёта даты/времени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06175" y="1039884"/>
            <a:ext cx="3742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x-none" sz="1800" dirty="0">
                <a:solidFill>
                  <a:srgbClr val="E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Описание программных модулей</a:t>
            </a:r>
            <a:endParaRPr lang="ru-RU" sz="1800" dirty="0">
              <a:solidFill>
                <a:srgbClr val="E6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9869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4963" y="1980431"/>
            <a:ext cx="9824904" cy="460851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dirty="0"/>
              <a:t>Модуль вспомогательных процедур и функций, содержащий функции обработки строковых данных, числовых данных, даты и времени, приведения их в требуемый формат.</a:t>
            </a:r>
          </a:p>
          <a:p>
            <a:pPr marL="0" indent="0" algn="just">
              <a:buNone/>
            </a:pPr>
            <a:r>
              <a:rPr lang="ru-RU" dirty="0"/>
              <a:t>Модуль </a:t>
            </a:r>
            <a:r>
              <a:rPr lang="en-US" dirty="0"/>
              <a:t>mod</a:t>
            </a:r>
            <a:r>
              <a:rPr lang="ru-RU" dirty="0"/>
              <a:t>_</a:t>
            </a:r>
            <a:r>
              <a:rPr lang="en-US" dirty="0" err="1"/>
              <a:t>auth</a:t>
            </a:r>
            <a:r>
              <a:rPr lang="ru-RU" dirty="0"/>
              <a:t>:</a:t>
            </a:r>
          </a:p>
          <a:p>
            <a:pPr lvl="1" algn="just"/>
            <a:r>
              <a:rPr lang="ru-RU" dirty="0"/>
              <a:t>Модуль аутентификации пользователей, включающий функции проверки логина, пароля а также управление (установка и снятие) </a:t>
            </a:r>
            <a:r>
              <a:rPr lang="en-US" dirty="0"/>
              <a:t>cookies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dirty="0"/>
              <a:t>Модуль </a:t>
            </a:r>
            <a:r>
              <a:rPr lang="en-US" dirty="0"/>
              <a:t>mod</a:t>
            </a:r>
            <a:r>
              <a:rPr lang="ru-RU" dirty="0"/>
              <a:t>_</a:t>
            </a:r>
            <a:r>
              <a:rPr lang="en-US" dirty="0"/>
              <a:t>admin</a:t>
            </a:r>
            <a:r>
              <a:rPr lang="ru-RU" dirty="0"/>
              <a:t>:</a:t>
            </a:r>
          </a:p>
          <a:p>
            <a:pPr lvl="1" algn="just"/>
            <a:r>
              <a:rPr lang="ru-RU" dirty="0"/>
              <a:t>Модуль предназначен для вывода начального диалога работы с администратором, а также вывод всех необходимых отчетов.</a:t>
            </a:r>
          </a:p>
          <a:p>
            <a:pPr marL="0" indent="0" algn="just">
              <a:buNone/>
            </a:pPr>
            <a:r>
              <a:rPr lang="ru-RU" dirty="0"/>
              <a:t>Модуль </a:t>
            </a:r>
            <a:r>
              <a:rPr lang="en-US" dirty="0"/>
              <a:t>mod</a:t>
            </a:r>
            <a:r>
              <a:rPr lang="ru-RU" dirty="0"/>
              <a:t>_</a:t>
            </a:r>
            <a:r>
              <a:rPr lang="en-US" dirty="0"/>
              <a:t>tenant</a:t>
            </a:r>
            <a:r>
              <a:rPr lang="ru-RU" dirty="0"/>
              <a:t>:</a:t>
            </a:r>
          </a:p>
          <a:p>
            <a:pPr lvl="1" algn="just"/>
            <a:r>
              <a:rPr lang="ru-RU" dirty="0"/>
              <a:t>Модуль предназначен для работы с арендатором и содержащий вывод видов услуг, вывод креативных мест, вывод счета/заявки арендатора для подтверждения, а также вывод диалога интерактивной консультации с администратором.</a:t>
            </a:r>
          </a:p>
          <a:p>
            <a:endParaRPr lang="ru-RU" dirty="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463818" y="318983"/>
            <a:ext cx="9687193" cy="498598"/>
          </a:xfrm>
        </p:spPr>
        <p:txBody>
          <a:bodyPr/>
          <a:lstStyle/>
          <a:p>
            <a:r>
              <a:rPr lang="ru-RU" sz="3600" dirty="0"/>
              <a:t>Пример № 2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94963" y="938268"/>
            <a:ext cx="3742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x-none" sz="1800" dirty="0">
                <a:solidFill>
                  <a:srgbClr val="E6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Описание программных модулей</a:t>
            </a:r>
            <a:endParaRPr lang="ru-RU" sz="1800" dirty="0">
              <a:solidFill>
                <a:srgbClr val="E6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7295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61" y="284249"/>
            <a:ext cx="9687193" cy="498598"/>
          </a:xfrm>
        </p:spPr>
        <p:txBody>
          <a:bodyPr/>
          <a:lstStyle/>
          <a:p>
            <a:r>
              <a:rPr lang="ru-RU" sz="3600" dirty="0"/>
              <a:t>Отчетный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106" y="1836415"/>
            <a:ext cx="9824904" cy="4448648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ru-RU" dirty="0"/>
              <a:t>Были получены новые навыки в сфере </a:t>
            </a:r>
            <a:r>
              <a:rPr lang="en-US" dirty="0"/>
              <a:t>Data scientist.</a:t>
            </a:r>
            <a:endParaRPr lang="ru-RU" dirty="0"/>
          </a:p>
          <a:p>
            <a:pPr marL="457200" indent="-457200">
              <a:buAutoNum type="arabicPeriod"/>
            </a:pPr>
            <a:r>
              <a:rPr lang="ru-RU" dirty="0"/>
              <a:t>Получен опыт в работе с командой.</a:t>
            </a:r>
          </a:p>
          <a:p>
            <a:pPr marL="457200" indent="-457200">
              <a:buAutoNum type="arabicPeriod"/>
            </a:pPr>
            <a:r>
              <a:rPr lang="ru-RU" dirty="0"/>
              <a:t>Результатом прохождения данной практики был доволен.</a:t>
            </a:r>
          </a:p>
          <a:p>
            <a:pPr marL="457200" indent="-457200">
              <a:buAutoNum type="arabicPeriod"/>
            </a:pPr>
            <a:r>
              <a:rPr lang="ru-RU" dirty="0"/>
              <a:t>Был получен опыт в создании сайта.</a:t>
            </a:r>
          </a:p>
          <a:p>
            <a:pPr marL="457200" indent="-457200">
              <a:buAutoNum type="arabicPeriod"/>
            </a:pPr>
            <a:r>
              <a:rPr lang="ru-RU" dirty="0"/>
              <a:t>Получен </a:t>
            </a:r>
            <a:r>
              <a:rPr lang="ru-RU"/>
              <a:t>первый опыт </a:t>
            </a:r>
            <a:r>
              <a:rPr lang="ru-RU" dirty="0"/>
              <a:t>участия в </a:t>
            </a:r>
            <a:r>
              <a:rPr lang="ru-RU" dirty="0" err="1"/>
              <a:t>Хакатоне</a:t>
            </a:r>
            <a:r>
              <a:rPr lang="ru-RU" dirty="0"/>
              <a:t> «Лидеры цифровой трансформации»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27EFB-04FA-4530-B85E-378B0CFDB7D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5550" y="1025707"/>
            <a:ext cx="9824904" cy="567848"/>
          </a:xfrm>
        </p:spPr>
        <p:txBody>
          <a:bodyPr>
            <a:no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Выводы о результатах прохождения учебной практики: </a:t>
            </a:r>
          </a:p>
          <a:p>
            <a:r>
              <a:rPr lang="ru-RU" b="0" dirty="0">
                <a:solidFill>
                  <a:srgbClr val="E60000"/>
                </a:solidFill>
              </a:rPr>
              <a:t>выполняемая работа, приобретенные знания, умения и навыки</a:t>
            </a:r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401" y="347185"/>
            <a:ext cx="9687193" cy="498598"/>
          </a:xfrm>
        </p:spPr>
        <p:txBody>
          <a:bodyPr/>
          <a:lstStyle/>
          <a:p>
            <a:r>
              <a:rPr lang="ru-RU" sz="3600" dirty="0"/>
              <a:t>Отчетный этап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817" y="1837608"/>
            <a:ext cx="9687193" cy="3671215"/>
          </a:xfrm>
        </p:spPr>
        <p:txBody>
          <a:bodyPr>
            <a:normAutofit/>
          </a:bodyPr>
          <a:lstStyle/>
          <a:p>
            <a:pPr marL="0" lvl="0" indent="542925" algn="just">
              <a:buFont typeface="+mj-lt"/>
              <a:buAutoNum type="arabicPeriod"/>
            </a:pPr>
            <a:r>
              <a:rPr lang="ru-RU" sz="1450" dirty="0" err="1"/>
              <a:t>Шандриков</a:t>
            </a:r>
            <a:r>
              <a:rPr lang="ru-RU" sz="1450" dirty="0"/>
              <a:t>, А.С. Информационные технологии : учебное пособие : [16+] / А.С. </a:t>
            </a:r>
            <a:r>
              <a:rPr lang="ru-RU" sz="1450" dirty="0" err="1"/>
              <a:t>Шандриков</a:t>
            </a:r>
            <a:r>
              <a:rPr lang="ru-RU" sz="1450" dirty="0"/>
              <a:t>. – 3-е изд., стер. – Минск : РИПО, 2019. – 445 с. : ил., табл. – Режим доступа: по подписке. – URL: </a:t>
            </a:r>
            <a:r>
              <a:rPr lang="ru-RU" sz="1450" u="sng" dirty="0">
                <a:hlinkClick r:id="rId2"/>
              </a:rPr>
              <a:t>https://biblioclub.ru/</a:t>
            </a:r>
            <a:r>
              <a:rPr lang="ru-RU" sz="1450" i="1" dirty="0"/>
              <a:t> </a:t>
            </a:r>
            <a:endParaRPr lang="ru-RU" sz="1450" dirty="0"/>
          </a:p>
          <a:p>
            <a:pPr marL="0" indent="542925" algn="just">
              <a:buFont typeface="+mj-lt"/>
              <a:buAutoNum type="arabicPeriod"/>
            </a:pPr>
            <a:r>
              <a:rPr lang="ru-RU" sz="1450" dirty="0"/>
              <a:t>Задачи по программированию : [12+] / С.М. Окулов, Т.В. Ашихмина, Н.А. </a:t>
            </a:r>
            <a:r>
              <a:rPr lang="ru-RU" sz="1450" dirty="0" err="1"/>
              <a:t>Бушмелева</a:t>
            </a:r>
            <a:r>
              <a:rPr lang="ru-RU" sz="1450" dirty="0"/>
              <a:t> и др. ; под ред. С.М. Окулова. – 4-е изд., </a:t>
            </a:r>
            <a:r>
              <a:rPr lang="ru-RU" sz="1450" dirty="0" err="1"/>
              <a:t>испр</a:t>
            </a:r>
            <a:r>
              <a:rPr lang="ru-RU" sz="1450" dirty="0"/>
              <a:t>., эл. – Москва : Лаборатория знаний, 2021. – 826 с. : ил., табл., схем., граф. – Режим доступа: по подписке. – URL: </a:t>
            </a:r>
            <a:r>
              <a:rPr lang="ru-RU" sz="1450" u="sng" dirty="0">
                <a:hlinkClick r:id="rId3"/>
              </a:rPr>
              <a:t>https://biblioclub.ru/</a:t>
            </a:r>
            <a:endParaRPr lang="ru-RU" sz="1450" dirty="0"/>
          </a:p>
          <a:p>
            <a:pPr marL="0" indent="542925" algn="just">
              <a:buFont typeface="+mj-lt"/>
              <a:buAutoNum type="arabicPeriod"/>
            </a:pPr>
            <a:r>
              <a:rPr lang="ru-RU" sz="1450" dirty="0"/>
              <a:t>Нагаева, И.А. Основы алгоритмизации и программирования: практикум : [12+] / И.А. Нагаева, И.А. Кузнецов. – Москва ; Берлин : Директ-Медиа, 2021. – 169 с. : схем. – Режим доступа: по подписке. – URL: </a:t>
            </a:r>
            <a:r>
              <a:rPr lang="ru-RU" sz="1450" u="sng" dirty="0">
                <a:hlinkClick r:id="rId4"/>
              </a:rPr>
              <a:t>https://biblioclub.ru/</a:t>
            </a:r>
            <a:endParaRPr lang="ru-RU" sz="1450" u="sng" dirty="0"/>
          </a:p>
          <a:p>
            <a:pPr marL="0" indent="542925" algn="just">
              <a:buFont typeface="+mj-lt"/>
              <a:buAutoNum type="arabicPeriod"/>
            </a:pPr>
            <a:r>
              <a:rPr lang="ru-RU" sz="1450" dirty="0"/>
              <a:t>Гниденко, И. Г. Технология разработки программного обеспечения : учебное пособие для среднего профессионального образования / И. Г. Гниденко, Ф. Ф. Павлов, Д. Ю. Федоров. — Москва : Издательство </a:t>
            </a:r>
            <a:r>
              <a:rPr lang="ru-RU" sz="1450" dirty="0" err="1"/>
              <a:t>Юрайт</a:t>
            </a:r>
            <a:r>
              <a:rPr lang="ru-RU" sz="1450" dirty="0"/>
              <a:t>, 2023. — 235 с. — (Профессиональное образование). — ISBN 978-5-534-05047-9. — URL : </a:t>
            </a:r>
            <a:r>
              <a:rPr lang="ru-RU" sz="1450" dirty="0">
                <a:hlinkClick r:id="rId5"/>
              </a:rPr>
              <a:t>https://urait.ru/bcode/514591</a:t>
            </a:r>
            <a:endParaRPr lang="ru-RU" sz="1450" dirty="0"/>
          </a:p>
          <a:p>
            <a:pPr marL="0" indent="542925">
              <a:buFont typeface="+mj-lt"/>
              <a:buAutoNum type="arabicPeriod"/>
            </a:pPr>
            <a:r>
              <a:rPr lang="en-US" sz="1450" dirty="0">
                <a:hlinkClick r:id="rId6"/>
              </a:rPr>
              <a:t>https://leaders2023.innoagency.ru/</a:t>
            </a:r>
            <a:endParaRPr lang="ru-RU" sz="1450" dirty="0"/>
          </a:p>
          <a:p>
            <a:pPr marL="0" indent="542925">
              <a:buFont typeface="+mj-lt"/>
              <a:buAutoNum type="arabicPeriod"/>
            </a:pPr>
            <a:r>
              <a:rPr lang="en-US" sz="1450" dirty="0">
                <a:hlinkClick r:id="rId7"/>
              </a:rPr>
              <a:t>https://support.microsoft.com/ru-ru/office/</a:t>
            </a:r>
            <a:r>
              <a:rPr lang="ru-RU" sz="1450" dirty="0">
                <a:hlinkClick r:id="rId7"/>
              </a:rPr>
              <a:t>создание-или-удаление-многозначного-поля-7</a:t>
            </a:r>
            <a:r>
              <a:rPr lang="en-US" sz="1450" dirty="0">
                <a:hlinkClick r:id="rId7"/>
              </a:rPr>
              <a:t>c2fd644-3771-48e4-b6dc-6de9bebbec31</a:t>
            </a:r>
            <a:endParaRPr lang="en-US" sz="1450" dirty="0"/>
          </a:p>
          <a:p>
            <a:pPr marL="0" indent="542925">
              <a:buFont typeface="+mj-lt"/>
              <a:buAutoNum type="arabicPeriod"/>
            </a:pPr>
            <a:r>
              <a:rPr lang="en-US" sz="1450" dirty="0">
                <a:hlinkClick r:id="rId8"/>
              </a:rPr>
              <a:t>https://support.microsoft.com/ru-ru/office/</a:t>
            </a:r>
            <a:r>
              <a:rPr lang="ru-RU" sz="1450" dirty="0">
                <a:hlinkClick r:id="rId8"/>
              </a:rPr>
              <a:t>создание-базы-данных-32</a:t>
            </a:r>
            <a:r>
              <a:rPr lang="en-US" sz="1450" dirty="0">
                <a:hlinkClick r:id="rId8"/>
              </a:rPr>
              <a:t>a1ea1c-a155-43d6-aa00-f08cd1a8f01e</a:t>
            </a:r>
            <a:endParaRPr lang="en-US" sz="1450" dirty="0"/>
          </a:p>
          <a:p>
            <a:pPr marL="0" indent="542925">
              <a:buFont typeface="+mj-lt"/>
              <a:buAutoNum type="arabicPeriod"/>
            </a:pPr>
            <a:endParaRPr lang="ru-RU" sz="1450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327EFB-04FA-4530-B85E-378B0CFDB7D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24690" y="773847"/>
            <a:ext cx="9824904" cy="567848"/>
          </a:xfrm>
        </p:spPr>
        <p:txBody>
          <a:bodyPr>
            <a:normAutofit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Список используемой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33541714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презентация_шаблончик A4 (1)</Template>
  <TotalTime>4103</TotalTime>
  <Words>2744</Words>
  <Application>Microsoft Office PowerPoint</Application>
  <PresentationFormat>Произвольный</PresentationFormat>
  <Paragraphs>268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40" baseType="lpstr">
      <vt:lpstr>Arial</vt:lpstr>
      <vt:lpstr>Arial Black</vt:lpstr>
      <vt:lpstr>Calibri</vt:lpstr>
      <vt:lpstr>Calibri Light</vt:lpstr>
      <vt:lpstr>Courier New</vt:lpstr>
      <vt:lpstr>Тема Office</vt:lpstr>
      <vt:lpstr>ОТЧЕТ  о прохождении учебной практики   по профессиональному модулю  ПМ.01 Осуществление интеграции программных модулей  в период с «18» мая 2023 г. по «31» мая 2023 г.  Специальность 09.02.07 Информационные системы и программирование</vt:lpstr>
      <vt:lpstr>Содержание</vt:lpstr>
      <vt:lpstr>Организационный этап</vt:lpstr>
      <vt:lpstr>Организационный этап</vt:lpstr>
      <vt:lpstr>Инструкции по охране труда   </vt:lpstr>
      <vt:lpstr>Инструкции по охране труда, технике безопасности и пожароопасности  </vt:lpstr>
      <vt:lpstr>Подготовительный этап</vt:lpstr>
      <vt:lpstr>Подготовительный этап</vt:lpstr>
      <vt:lpstr>Подготовительный этап</vt:lpstr>
      <vt:lpstr>Исследовательский этап. Сбор информации об объекте практики  и анализ содержания источников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Исследовательский этап</vt:lpstr>
      <vt:lpstr>Проектный этап.  Экспериментально-практическая работа </vt:lpstr>
      <vt:lpstr>Идентификатор и выполняемые функции</vt:lpstr>
      <vt:lpstr>Виды и состав используемых объектов проектирования</vt:lpstr>
      <vt:lpstr>Виды и состав используемых объектов проектирования</vt:lpstr>
      <vt:lpstr>Описание программных модулей </vt:lpstr>
      <vt:lpstr>Описание программных модулей </vt:lpstr>
      <vt:lpstr>Презентация PowerPoint</vt:lpstr>
      <vt:lpstr>Дерево вызова процедур и функций</vt:lpstr>
      <vt:lpstr>Пример № 1</vt:lpstr>
      <vt:lpstr>Пример № 1</vt:lpstr>
      <vt:lpstr>Пример № 2 </vt:lpstr>
      <vt:lpstr>Дерево вызова процедур и функций</vt:lpstr>
      <vt:lpstr>Пример № 2</vt:lpstr>
      <vt:lpstr>Пример № 2</vt:lpstr>
      <vt:lpstr>Отчетный этап</vt:lpstr>
      <vt:lpstr>Отчетный этап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Михаил Плевако</cp:lastModifiedBy>
  <cp:revision>226</cp:revision>
  <cp:lastPrinted>2019-08-06T13:15:09Z</cp:lastPrinted>
  <dcterms:created xsi:type="dcterms:W3CDTF">2020-03-27T22:15:06Z</dcterms:created>
  <dcterms:modified xsi:type="dcterms:W3CDTF">2023-06-11T16:19:23Z</dcterms:modified>
</cp:coreProperties>
</file>